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65" r:id="rId4"/>
    <p:sldId id="258" r:id="rId5"/>
    <p:sldId id="266" r:id="rId6"/>
    <p:sldId id="259" r:id="rId7"/>
    <p:sldId id="260" r:id="rId8"/>
    <p:sldId id="261" r:id="rId9"/>
    <p:sldId id="262" r:id="rId10"/>
    <p:sldId id="263" r:id="rId11"/>
    <p:sldId id="264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8A5B8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39F3E85-3A90-8541-9C4E-10A5EB7AFD82}" v="264" dt="2026-05-22T16:20:14.320"/>
    <p1510:client id="{75E5E3FB-0F1A-4543-2B7B-CA0FA3AFA76D}" v="2" dt="2026-05-22T15:25:49.508"/>
    <p1510:client id="{CE6AB0F4-F655-8483-17EC-14DABA4DD198}" v="88" dt="2026-05-22T15:26:20.92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633"/>
    <p:restoredTop sz="94610"/>
  </p:normalViewPr>
  <p:slideViewPr>
    <p:cSldViewPr snapToGrid="0" snapToObjects="1">
      <p:cViewPr>
        <p:scale>
          <a:sx n="109" d="100"/>
          <a:sy n="109" d="100"/>
        </p:scale>
        <p:origin x="488" y="9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468102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4BE9A7-83C6-2938-320F-CF16F97F84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3E3C8D-5F49-6B3D-FC5F-E7D97719F1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0007EB-A33D-5A6C-13C2-C3FA5FF700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2E5E9B-C864-11B4-AC27-A279B417E3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14508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0691E1-58F4-B430-1146-409BEA0F16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538AEF-9E74-EC0B-120D-B64B32FA97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73ADA9-AC30-CB04-3E2E-0BF9CB0971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72F4AE-DE8D-21BD-C25B-9DFC32BB8E6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54949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3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10" Type="http://schemas.openxmlformats.org/officeDocument/2006/relationships/image" Target="../media/image9.png"/><Relationship Id="rId4" Type="http://schemas.openxmlformats.org/officeDocument/2006/relationships/image" Target="../media/image5.png"/><Relationship Id="rId9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E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Imagen 39">
            <a:extLst>
              <a:ext uri="{FF2B5EF4-FFF2-40B4-BE49-F238E27FC236}">
                <a16:creationId xmlns:a16="http://schemas.microsoft.com/office/drawing/2014/main" id="{5B15B82D-5A79-F016-62B1-3D599B0BF2C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alphaModFix amt="35000"/>
          </a:blip>
          <a:srcRect l="16960"/>
          <a:stretch>
            <a:fillRect/>
          </a:stretch>
        </p:blipFill>
        <p:spPr>
          <a:xfrm>
            <a:off x="0" y="0"/>
            <a:ext cx="9169834" cy="5143500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7A5B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320040" y="3090672"/>
            <a:ext cx="3840480" cy="45720"/>
          </a:xfrm>
          <a:prstGeom prst="rect">
            <a:avLst/>
          </a:prstGeom>
          <a:solidFill>
            <a:srgbClr val="17A5B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282940" y="3218375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Multiagente para Predicción de Diabetes</a:t>
            </a:r>
            <a:endParaRPr lang="en-US" sz="1600" b="1" dirty="0"/>
          </a:p>
        </p:txBody>
      </p:sp>
      <p:sp>
        <p:nvSpPr>
          <p:cNvPr id="12" name="Text 10"/>
          <p:cNvSpPr/>
          <p:nvPr/>
        </p:nvSpPr>
        <p:spPr>
          <a:xfrm>
            <a:off x="303366" y="3508338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Inteligentes  ·  Curso 2025-26  ·  UPM</a:t>
            </a:r>
            <a:endParaRPr lang="en-US" sz="1100" b="1" dirty="0"/>
          </a:p>
        </p:txBody>
      </p:sp>
      <p:pic>
        <p:nvPicPr>
          <p:cNvPr id="45" name="Imagen 44">
            <a:extLst>
              <a:ext uri="{FF2B5EF4-FFF2-40B4-BE49-F238E27FC236}">
                <a16:creationId xmlns:a16="http://schemas.microsoft.com/office/drawing/2014/main" id="{06AF48F0-8E98-E8C3-6591-2FD498FA9C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940" y="1903566"/>
            <a:ext cx="3987308" cy="115150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46" name="Text 9">
            <a:extLst>
              <a:ext uri="{FF2B5EF4-FFF2-40B4-BE49-F238E27FC236}">
                <a16:creationId xmlns:a16="http://schemas.microsoft.com/office/drawing/2014/main" id="{757E074D-BCE8-540C-71B9-476966ED1192}"/>
              </a:ext>
            </a:extLst>
          </p:cNvPr>
          <p:cNvSpPr/>
          <p:nvPr/>
        </p:nvSpPr>
        <p:spPr>
          <a:xfrm>
            <a:off x="2075688" y="4054288"/>
            <a:ext cx="4389120" cy="86330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5276"/>
                </a:solidFill>
                <a:latin typeface="Calibri" pitchFamily="34" charset="0"/>
                <a:cs typeface="Calibri" pitchFamily="34" charset="-120"/>
              </a:rPr>
              <a:t>Alejandro Gil Rodríguez</a:t>
            </a:r>
          </a:p>
          <a:p>
            <a:pPr marL="0" indent="0" algn="ctr">
              <a:buNone/>
            </a:pPr>
            <a:r>
              <a:rPr lang="en-US" sz="1200" dirty="0">
                <a:solidFill>
                  <a:srgbClr val="1A5276"/>
                </a:solidFill>
                <a:latin typeface="Calibri" pitchFamily="34" charset="0"/>
                <a:cs typeface="Calibri" pitchFamily="34" charset="-120"/>
              </a:rPr>
              <a:t>Marta Martín Sánchez</a:t>
            </a:r>
          </a:p>
          <a:p>
            <a:pPr marL="0" indent="0" algn="ctr">
              <a:buNone/>
            </a:pPr>
            <a:r>
              <a:rPr lang="en-US" sz="1200" dirty="0">
                <a:solidFill>
                  <a:srgbClr val="1A5276"/>
                </a:solidFill>
                <a:latin typeface="Calibri" pitchFamily="34" charset="0"/>
                <a:cs typeface="Calibri" pitchFamily="34" charset="-120"/>
              </a:rPr>
              <a:t>Pablo Calle Tercero</a:t>
            </a:r>
          </a:p>
          <a:p>
            <a:pPr marL="0" indent="0" algn="ctr">
              <a:buNone/>
            </a:pPr>
            <a:r>
              <a:rPr lang="en-US" sz="1200" dirty="0">
                <a:solidFill>
                  <a:srgbClr val="1A5276"/>
                </a:solidFill>
                <a:latin typeface="Calibri" pitchFamily="34" charset="0"/>
                <a:cs typeface="Calibri" pitchFamily="34" charset="-120"/>
              </a:rPr>
              <a:t>Isabel Juárez Montalbán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7A5B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937760" y="228600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7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Nuestra Solución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480560" y="182880"/>
            <a:ext cx="54864" cy="4663440"/>
          </a:xfrm>
          <a:prstGeom prst="rect">
            <a:avLst/>
          </a:prstGeom>
          <a:solidFill>
            <a:srgbClr val="B2E0E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502920" y="1097280"/>
            <a:ext cx="457200" cy="457200"/>
          </a:xfrm>
          <a:prstGeom prst="ellipse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Text 5"/>
          <p:cNvSpPr/>
          <p:nvPr/>
        </p:nvSpPr>
        <p:spPr>
          <a:xfrm>
            <a:off x="1097280" y="1051560"/>
            <a:ext cx="3154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3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diabetes afecta a más de 537 millones de personas en el mundo (IDF, 2021)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02920" y="1965960"/>
            <a:ext cx="457200" cy="457200"/>
          </a:xfrm>
          <a:prstGeom prst="ellipse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" name="Text 7"/>
          <p:cNvSpPr/>
          <p:nvPr/>
        </p:nvSpPr>
        <p:spPr>
          <a:xfrm>
            <a:off x="1097280" y="1920240"/>
            <a:ext cx="3154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3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diagnóstico tardío es la principal causa de complicaciones graves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02920" y="2834640"/>
            <a:ext cx="457200" cy="457200"/>
          </a:xfrm>
          <a:prstGeom prst="ellipse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4" name="Text 9"/>
          <p:cNvSpPr/>
          <p:nvPr/>
        </p:nvSpPr>
        <p:spPr>
          <a:xfrm>
            <a:off x="1097280" y="2788920"/>
            <a:ext cx="3154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3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pacientes no tienen herramientas para monitorizar su riesgo diario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502920" y="3703320"/>
            <a:ext cx="457200" cy="457200"/>
          </a:xfrm>
          <a:prstGeom prst="ellipse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7" name="Text 11"/>
          <p:cNvSpPr/>
          <p:nvPr/>
        </p:nvSpPr>
        <p:spPr>
          <a:xfrm>
            <a:off x="1097280" y="3657600"/>
            <a:ext cx="3154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3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médicos necesitan alertas tempranas automáticas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4892040" y="1097280"/>
            <a:ext cx="457200" cy="457200"/>
          </a:xfrm>
          <a:prstGeom prst="ellipse">
            <a:avLst/>
          </a:prstGeom>
          <a:solidFill>
            <a:schemeClr val="accent5">
              <a:lumMod val="50000"/>
            </a:scheme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0" name="Text 13"/>
          <p:cNvSpPr/>
          <p:nvPr/>
        </p:nvSpPr>
        <p:spPr>
          <a:xfrm>
            <a:off x="5486400" y="1051560"/>
            <a:ext cx="3337560" cy="6858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200">
                <a:solidFill>
                  <a:srgbClr val="1A3244"/>
                </a:solidFill>
                <a:latin typeface="Calibri"/>
                <a:ea typeface="Calibri"/>
                <a:cs typeface="Calibri"/>
              </a:rPr>
              <a:t> N </a:t>
            </a:r>
            <a:r>
              <a:rPr lang="en-US" sz="1200" err="1">
                <a:solidFill>
                  <a:srgbClr val="1A3244"/>
                </a:solidFill>
                <a:latin typeface="Calibri"/>
                <a:ea typeface="Calibri"/>
                <a:cs typeface="Calibri"/>
              </a:rPr>
              <a:t>pacientes</a:t>
            </a:r>
            <a:r>
              <a:rPr lang="en-US" sz="1200">
                <a:solidFill>
                  <a:srgbClr val="1A324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00" err="1">
                <a:solidFill>
                  <a:srgbClr val="1A3244"/>
                </a:solidFill>
                <a:latin typeface="Calibri"/>
                <a:ea typeface="Calibri"/>
                <a:cs typeface="Calibri"/>
              </a:rPr>
              <a:t>analizados</a:t>
            </a:r>
            <a:r>
              <a:rPr lang="en-US" sz="1200">
                <a:solidFill>
                  <a:srgbClr val="1A324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00" err="1">
                <a:solidFill>
                  <a:srgbClr val="1A3244"/>
                </a:solidFill>
                <a:latin typeface="Calibri"/>
                <a:ea typeface="Calibri"/>
                <a:cs typeface="Calibri"/>
              </a:rPr>
              <a:t>en</a:t>
            </a:r>
            <a:r>
              <a:rPr lang="en-US" sz="1200">
                <a:solidFill>
                  <a:srgbClr val="1A324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00" err="1">
                <a:solidFill>
                  <a:srgbClr val="1A3244"/>
                </a:solidFill>
                <a:latin typeface="Calibri"/>
                <a:ea typeface="Calibri"/>
                <a:cs typeface="Calibri"/>
              </a:rPr>
              <a:t>paralelo</a:t>
            </a:r>
            <a:r>
              <a:rPr lang="en-US" sz="1200">
                <a:solidFill>
                  <a:srgbClr val="1A3244"/>
                </a:solidFill>
                <a:latin typeface="Calibri"/>
                <a:ea typeface="Calibri"/>
                <a:cs typeface="Calibri"/>
              </a:rPr>
              <a:t> y </a:t>
            </a:r>
            <a:r>
              <a:rPr lang="en-US" sz="1200" err="1">
                <a:solidFill>
                  <a:srgbClr val="1A3244"/>
                </a:solidFill>
                <a:latin typeface="Calibri"/>
                <a:ea typeface="Calibri"/>
                <a:cs typeface="Calibri"/>
              </a:rPr>
              <a:t>en</a:t>
            </a:r>
            <a:r>
              <a:rPr lang="en-US" sz="1200">
                <a:solidFill>
                  <a:srgbClr val="1A3244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00" err="1">
                <a:solidFill>
                  <a:srgbClr val="1A3244"/>
                </a:solidFill>
                <a:latin typeface="Calibri"/>
                <a:ea typeface="Calibri"/>
                <a:cs typeface="Calibri"/>
              </a:rPr>
              <a:t>tiempo</a:t>
            </a:r>
            <a:r>
              <a:rPr lang="en-US" sz="1200">
                <a:solidFill>
                  <a:srgbClr val="1A3244"/>
                </a:solidFill>
                <a:latin typeface="Calibri"/>
                <a:ea typeface="Calibri"/>
                <a:cs typeface="Calibri"/>
              </a:rPr>
              <a:t> real</a:t>
            </a:r>
            <a:endParaRPr lang="en-US" sz="1200">
              <a:latin typeface="Calibri"/>
              <a:ea typeface="Calibri"/>
              <a:cs typeface="Calibri"/>
            </a:endParaRPr>
          </a:p>
        </p:txBody>
      </p:sp>
      <p:sp>
        <p:nvSpPr>
          <p:cNvPr id="21" name="Shape 14"/>
          <p:cNvSpPr/>
          <p:nvPr/>
        </p:nvSpPr>
        <p:spPr>
          <a:xfrm>
            <a:off x="4892040" y="1965960"/>
            <a:ext cx="457200" cy="457200"/>
          </a:xfrm>
          <a:prstGeom prst="ellipse">
            <a:avLst/>
          </a:prstGeom>
          <a:solidFill>
            <a:schemeClr val="accent5">
              <a:lumMod val="50000"/>
            </a:scheme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3" name="Text 15"/>
          <p:cNvSpPr/>
          <p:nvPr/>
        </p:nvSpPr>
        <p:spPr>
          <a:xfrm>
            <a:off x="5486400" y="1920240"/>
            <a:ext cx="3337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3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agentes JADE especializados con comunicación ACL</a:t>
            </a:r>
            <a:endParaRPr lang="en-US" sz="1200" dirty="0"/>
          </a:p>
        </p:txBody>
      </p:sp>
      <p:sp>
        <p:nvSpPr>
          <p:cNvPr id="24" name="Shape 16"/>
          <p:cNvSpPr/>
          <p:nvPr/>
        </p:nvSpPr>
        <p:spPr>
          <a:xfrm>
            <a:off x="4892040" y="2834640"/>
            <a:ext cx="457200" cy="457200"/>
          </a:xfrm>
          <a:prstGeom prst="ellipse">
            <a:avLst/>
          </a:prstGeom>
          <a:solidFill>
            <a:schemeClr val="accent5">
              <a:lumMod val="50000"/>
            </a:scheme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6" name="Text 17"/>
          <p:cNvSpPr/>
          <p:nvPr/>
        </p:nvSpPr>
        <p:spPr>
          <a:xfrm>
            <a:off x="5486400" y="2788920"/>
            <a:ext cx="3337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3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 J48 de Weka con 6 tomas de glucosa diarias</a:t>
            </a:r>
            <a:endParaRPr lang="en-US" sz="1200" dirty="0"/>
          </a:p>
        </p:txBody>
      </p:sp>
      <p:sp>
        <p:nvSpPr>
          <p:cNvPr id="27" name="Shape 18"/>
          <p:cNvSpPr/>
          <p:nvPr/>
        </p:nvSpPr>
        <p:spPr>
          <a:xfrm>
            <a:off x="4892040" y="3703320"/>
            <a:ext cx="457200" cy="457200"/>
          </a:xfrm>
          <a:prstGeom prst="ellipse">
            <a:avLst/>
          </a:prstGeom>
          <a:solidFill>
            <a:schemeClr val="accent5">
              <a:lumMod val="50000"/>
            </a:scheme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9" name="Text 19"/>
          <p:cNvSpPr/>
          <p:nvPr/>
        </p:nvSpPr>
        <p:spPr>
          <a:xfrm>
            <a:off x="5486400" y="3657600"/>
            <a:ext cx="3337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3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automáticas cuando se detecta riesgo alto</a:t>
            </a:r>
            <a:endParaRPr lang="en-US" sz="1200" dirty="0"/>
          </a:p>
        </p:txBody>
      </p:sp>
      <p:sp>
        <p:nvSpPr>
          <p:cNvPr id="30" name="Shape 20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EEF3F8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32" name="Imagen 31">
            <a:extLst>
              <a:ext uri="{FF2B5EF4-FFF2-40B4-BE49-F238E27FC236}">
                <a16:creationId xmlns:a16="http://schemas.microsoft.com/office/drawing/2014/main" id="{B958FCB5-8137-F046-EFFA-036FBD3BB1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011680"/>
            <a:ext cx="365760" cy="365760"/>
          </a:xfrm>
          <a:prstGeom prst="rect">
            <a:avLst/>
          </a:prstGeom>
        </p:spPr>
      </p:pic>
      <p:pic>
        <p:nvPicPr>
          <p:cNvPr id="34" name="Imagen 33">
            <a:extLst>
              <a:ext uri="{FF2B5EF4-FFF2-40B4-BE49-F238E27FC236}">
                <a16:creationId xmlns:a16="http://schemas.microsoft.com/office/drawing/2014/main" id="{E89F360E-FEE9-0376-11F1-91DE5D0F89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1120140"/>
            <a:ext cx="457200" cy="457200"/>
          </a:xfrm>
          <a:prstGeom prst="rect">
            <a:avLst/>
          </a:prstGeom>
        </p:spPr>
      </p:pic>
      <p:pic>
        <p:nvPicPr>
          <p:cNvPr id="35" name="Imagen 34">
            <a:extLst>
              <a:ext uri="{FF2B5EF4-FFF2-40B4-BE49-F238E27FC236}">
                <a16:creationId xmlns:a16="http://schemas.microsoft.com/office/drawing/2014/main" id="{2163FBA2-6EE0-BC83-FD2B-BD8FBD4694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352" y="3733038"/>
            <a:ext cx="388620" cy="388620"/>
          </a:xfrm>
          <a:prstGeom prst="rect">
            <a:avLst/>
          </a:prstGeom>
        </p:spPr>
      </p:pic>
      <p:pic>
        <p:nvPicPr>
          <p:cNvPr id="37" name="Imagen 36">
            <a:extLst>
              <a:ext uri="{FF2B5EF4-FFF2-40B4-BE49-F238E27FC236}">
                <a16:creationId xmlns:a16="http://schemas.microsoft.com/office/drawing/2014/main" id="{19CB1C6B-3C60-B6F2-08C1-3727515E421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113" y="2900777"/>
            <a:ext cx="330813" cy="330813"/>
          </a:xfrm>
          <a:prstGeom prst="rect">
            <a:avLst/>
          </a:prstGeom>
        </p:spPr>
      </p:pic>
      <p:pic>
        <p:nvPicPr>
          <p:cNvPr id="39" name="Imagen 38">
            <a:extLst>
              <a:ext uri="{FF2B5EF4-FFF2-40B4-BE49-F238E27FC236}">
                <a16:creationId xmlns:a16="http://schemas.microsoft.com/office/drawing/2014/main" id="{20151E2C-5091-ACC4-7269-03E5FA31D72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65191" y="3776471"/>
            <a:ext cx="310897" cy="310897"/>
          </a:xfrm>
          <a:prstGeom prst="rect">
            <a:avLst/>
          </a:prstGeom>
        </p:spPr>
      </p:pic>
      <p:pic>
        <p:nvPicPr>
          <p:cNvPr id="41" name="Imagen 40">
            <a:extLst>
              <a:ext uri="{FF2B5EF4-FFF2-40B4-BE49-F238E27FC236}">
                <a16:creationId xmlns:a16="http://schemas.microsoft.com/office/drawing/2014/main" id="{3D332358-7B28-1A7A-0E83-63AA4EDCE02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65190" y="2930649"/>
            <a:ext cx="310898" cy="310898"/>
          </a:xfrm>
          <a:prstGeom prst="rect">
            <a:avLst/>
          </a:prstGeom>
        </p:spPr>
      </p:pic>
      <p:pic>
        <p:nvPicPr>
          <p:cNvPr id="43" name="Imagen 42">
            <a:extLst>
              <a:ext uri="{FF2B5EF4-FFF2-40B4-BE49-F238E27FC236}">
                <a16:creationId xmlns:a16="http://schemas.microsoft.com/office/drawing/2014/main" id="{8D52A8A6-1686-B5DB-4424-E87A82D9BE4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18454" y="2041651"/>
            <a:ext cx="404369" cy="404369"/>
          </a:xfrm>
          <a:prstGeom prst="rect">
            <a:avLst/>
          </a:prstGeom>
        </p:spPr>
      </p:pic>
      <p:pic>
        <p:nvPicPr>
          <p:cNvPr id="45" name="Imagen 44">
            <a:extLst>
              <a:ext uri="{FF2B5EF4-FFF2-40B4-BE49-F238E27FC236}">
                <a16:creationId xmlns:a16="http://schemas.microsoft.com/office/drawing/2014/main" id="{43C7AB42-D2FC-A62A-64BF-6CB8AA788D1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60110" y="1160272"/>
            <a:ext cx="321056" cy="321056"/>
          </a:xfrm>
          <a:prstGeom prst="rect">
            <a:avLst/>
          </a:prstGeom>
        </p:spPr>
      </p:pic>
      <p:cxnSp>
        <p:nvCxnSpPr>
          <p:cNvPr id="47" name="Conector recto de flecha 46">
            <a:extLst>
              <a:ext uri="{FF2B5EF4-FFF2-40B4-BE49-F238E27FC236}">
                <a16:creationId xmlns:a16="http://schemas.microsoft.com/office/drawing/2014/main" id="{10782CC0-BE02-019C-64E4-9CE19EA916FA}"/>
              </a:ext>
            </a:extLst>
          </p:cNvPr>
          <p:cNvCxnSpPr/>
          <p:nvPr/>
        </p:nvCxnSpPr>
        <p:spPr>
          <a:xfrm>
            <a:off x="4105275" y="1381125"/>
            <a:ext cx="66675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ector recto de flecha 47">
            <a:extLst>
              <a:ext uri="{FF2B5EF4-FFF2-40B4-BE49-F238E27FC236}">
                <a16:creationId xmlns:a16="http://schemas.microsoft.com/office/drawing/2014/main" id="{E8890507-A88D-BE2C-B39F-25E9CA32B64B}"/>
              </a:ext>
            </a:extLst>
          </p:cNvPr>
          <p:cNvCxnSpPr/>
          <p:nvPr/>
        </p:nvCxnSpPr>
        <p:spPr>
          <a:xfrm>
            <a:off x="4105275" y="2238375"/>
            <a:ext cx="66675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ector recto de flecha 48">
            <a:extLst>
              <a:ext uri="{FF2B5EF4-FFF2-40B4-BE49-F238E27FC236}">
                <a16:creationId xmlns:a16="http://schemas.microsoft.com/office/drawing/2014/main" id="{04134B0D-F0DF-0C42-E1F9-BBE2F2CF768F}"/>
              </a:ext>
            </a:extLst>
          </p:cNvPr>
          <p:cNvCxnSpPr/>
          <p:nvPr/>
        </p:nvCxnSpPr>
        <p:spPr>
          <a:xfrm>
            <a:off x="4090035" y="3048000"/>
            <a:ext cx="66675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ector recto de flecha 49">
            <a:extLst>
              <a:ext uri="{FF2B5EF4-FFF2-40B4-BE49-F238E27FC236}">
                <a16:creationId xmlns:a16="http://schemas.microsoft.com/office/drawing/2014/main" id="{43608021-AD4F-3461-005C-A87C2DE2F909}"/>
              </a:ext>
            </a:extLst>
          </p:cNvPr>
          <p:cNvCxnSpPr/>
          <p:nvPr/>
        </p:nvCxnSpPr>
        <p:spPr>
          <a:xfrm>
            <a:off x="4105275" y="3952875"/>
            <a:ext cx="66675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3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613C20-C1B7-573F-D903-086C6CC92A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F9CC5A49-C253-265B-2786-33B4A398E1C0}"/>
              </a:ext>
            </a:extLst>
          </p:cNvPr>
          <p:cNvSpPr/>
          <p:nvPr/>
        </p:nvSpPr>
        <p:spPr>
          <a:xfrm>
            <a:off x="458803" y="3636068"/>
            <a:ext cx="8255429" cy="852805"/>
          </a:xfrm>
          <a:prstGeom prst="rect">
            <a:avLst/>
          </a:prstGeom>
          <a:solidFill>
            <a:srgbClr val="4472C4">
              <a:alpha val="18039"/>
            </a:srgbClr>
          </a:solidFill>
          <a:ln>
            <a:solidFill>
              <a:srgbClr val="00206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C9A60342-76AF-9DD8-8625-0F722D56855C}"/>
              </a:ext>
            </a:extLst>
          </p:cNvPr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7A5B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E7EDBB77-9B52-DD71-2232-81B159C6E25D}"/>
              </a:ext>
            </a:extLst>
          </p:cNvPr>
          <p:cNvSpPr/>
          <p:nvPr/>
        </p:nvSpPr>
        <p:spPr>
          <a:xfrm>
            <a:off x="458803" y="1615934"/>
            <a:ext cx="19202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B2E0E8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CC577381-BD9E-D85E-5947-5F6073AC0D7B}"/>
              </a:ext>
            </a:extLst>
          </p:cNvPr>
          <p:cNvSpPr/>
          <p:nvPr/>
        </p:nvSpPr>
        <p:spPr>
          <a:xfrm>
            <a:off x="458803" y="1615934"/>
            <a:ext cx="1920240" cy="54864"/>
          </a:xfrm>
          <a:prstGeom prst="rect">
            <a:avLst/>
          </a:prstGeom>
          <a:solidFill>
            <a:srgbClr val="17A5B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DF691BEE-DF36-0F25-1F4A-BD4FF7E27E41}"/>
              </a:ext>
            </a:extLst>
          </p:cNvPr>
          <p:cNvSpPr/>
          <p:nvPr/>
        </p:nvSpPr>
        <p:spPr>
          <a:xfrm>
            <a:off x="458803" y="1707374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1A5276"/>
                </a:solidFill>
                <a:latin typeface="Calibri" pitchFamily="34" charset="0"/>
                <a:cs typeface="Calibri" pitchFamily="34" charset="-120"/>
              </a:rPr>
              <a:t>4</a:t>
            </a:r>
            <a:endParaRPr lang="en-US" sz="42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7FEB598B-D0A6-B1B8-7555-581D51A7B87D}"/>
              </a:ext>
            </a:extLst>
          </p:cNvPr>
          <p:cNvSpPr/>
          <p:nvPr/>
        </p:nvSpPr>
        <p:spPr>
          <a:xfrm>
            <a:off x="550243" y="2576054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Agentes JADE</a:t>
            </a:r>
            <a:endParaRPr lang="en-US" sz="1400" dirty="0">
              <a:solidFill>
                <a:srgbClr val="002060"/>
              </a:solidFill>
            </a:endParaRPr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99992ED0-2938-EB5D-D1CC-347DBEC7E334}"/>
              </a:ext>
            </a:extLst>
          </p:cNvPr>
          <p:cNvSpPr/>
          <p:nvPr/>
        </p:nvSpPr>
        <p:spPr>
          <a:xfrm>
            <a:off x="2561923" y="1615934"/>
            <a:ext cx="19202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B2E0E8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A0680B25-2E36-6BC5-2A2A-FB4FE3D863CA}"/>
              </a:ext>
            </a:extLst>
          </p:cNvPr>
          <p:cNvSpPr/>
          <p:nvPr/>
        </p:nvSpPr>
        <p:spPr>
          <a:xfrm>
            <a:off x="2561923" y="1615934"/>
            <a:ext cx="1920240" cy="54864"/>
          </a:xfrm>
          <a:prstGeom prst="rect">
            <a:avLst/>
          </a:prstGeom>
          <a:solidFill>
            <a:srgbClr val="17A5B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29F66088-30F6-779F-1491-EE8AD4E51DEE}"/>
              </a:ext>
            </a:extLst>
          </p:cNvPr>
          <p:cNvSpPr/>
          <p:nvPr/>
        </p:nvSpPr>
        <p:spPr>
          <a:xfrm>
            <a:off x="2561923" y="1707374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1A5276"/>
                </a:solidFill>
                <a:latin typeface="Calibri" pitchFamily="34" charset="0"/>
                <a:cs typeface="Calibri" pitchFamily="34" charset="-120"/>
              </a:rPr>
              <a:t>N</a:t>
            </a:r>
            <a:endParaRPr lang="en-US" sz="42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3AB02B27-F847-8B03-5B38-A096BB1E2FA3}"/>
              </a:ext>
            </a:extLst>
          </p:cNvPr>
          <p:cNvSpPr/>
          <p:nvPr/>
        </p:nvSpPr>
        <p:spPr>
          <a:xfrm>
            <a:off x="2653363" y="2576054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Pacientes en paralelo</a:t>
            </a:r>
            <a:endParaRPr lang="en-US" sz="1400" dirty="0">
              <a:solidFill>
                <a:srgbClr val="002060"/>
              </a:solidFill>
            </a:endParaRPr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2D27F1E9-D92C-8ED5-CDD2-8D0C284A3EBA}"/>
              </a:ext>
            </a:extLst>
          </p:cNvPr>
          <p:cNvSpPr/>
          <p:nvPr/>
        </p:nvSpPr>
        <p:spPr>
          <a:xfrm>
            <a:off x="4690872" y="1615934"/>
            <a:ext cx="19202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B2E0E8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5F1AADAF-B6FC-00B2-F9CB-7A01B8737866}"/>
              </a:ext>
            </a:extLst>
          </p:cNvPr>
          <p:cNvSpPr/>
          <p:nvPr/>
        </p:nvSpPr>
        <p:spPr>
          <a:xfrm>
            <a:off x="4690872" y="1615934"/>
            <a:ext cx="1920240" cy="54864"/>
          </a:xfrm>
          <a:prstGeom prst="rect">
            <a:avLst/>
          </a:prstGeom>
          <a:solidFill>
            <a:srgbClr val="17A5B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8F405AC5-B615-1ED3-EC4F-FD91EE91D409}"/>
              </a:ext>
            </a:extLst>
          </p:cNvPr>
          <p:cNvSpPr/>
          <p:nvPr/>
        </p:nvSpPr>
        <p:spPr>
          <a:xfrm>
            <a:off x="4690872" y="1707374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1A5276"/>
                </a:solidFill>
                <a:latin typeface="Calibri" pitchFamily="34" charset="0"/>
                <a:cs typeface="Calibri" pitchFamily="34" charset="-120"/>
              </a:rPr>
              <a:t>M</a:t>
            </a:r>
            <a:endParaRPr lang="en-US" sz="42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23895927-4569-AC7C-626A-9B656E113493}"/>
              </a:ext>
            </a:extLst>
          </p:cNvPr>
          <p:cNvSpPr/>
          <p:nvPr/>
        </p:nvSpPr>
        <p:spPr>
          <a:xfrm>
            <a:off x="4782312" y="2576054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Nutricionistas concurrentes</a:t>
            </a:r>
            <a:endParaRPr lang="en-US" sz="1400" dirty="0">
              <a:solidFill>
                <a:srgbClr val="002060"/>
              </a:solidFill>
            </a:endParaRPr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111FAC4A-0427-B671-248D-552EBCC86AB3}"/>
              </a:ext>
            </a:extLst>
          </p:cNvPr>
          <p:cNvSpPr/>
          <p:nvPr/>
        </p:nvSpPr>
        <p:spPr>
          <a:xfrm>
            <a:off x="6793992" y="1615934"/>
            <a:ext cx="19202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B2E0E8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62A8F560-9A8B-B745-BE16-587277912893}"/>
              </a:ext>
            </a:extLst>
          </p:cNvPr>
          <p:cNvSpPr/>
          <p:nvPr/>
        </p:nvSpPr>
        <p:spPr>
          <a:xfrm>
            <a:off x="6793992" y="1615934"/>
            <a:ext cx="1920240" cy="54864"/>
          </a:xfrm>
          <a:prstGeom prst="rect">
            <a:avLst/>
          </a:prstGeom>
          <a:solidFill>
            <a:srgbClr val="17A5B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D54CF42B-C4EB-B4DB-BA9D-4FA529C1BF4F}"/>
              </a:ext>
            </a:extLst>
          </p:cNvPr>
          <p:cNvSpPr/>
          <p:nvPr/>
        </p:nvSpPr>
        <p:spPr>
          <a:xfrm>
            <a:off x="6793992" y="1707374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4200" dirty="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2211A4AC-30C1-93B7-6202-398F91147673}"/>
              </a:ext>
            </a:extLst>
          </p:cNvPr>
          <p:cNvSpPr/>
          <p:nvPr/>
        </p:nvSpPr>
        <p:spPr>
          <a:xfrm>
            <a:off x="6885432" y="2576054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clínicas por análisis</a:t>
            </a:r>
            <a:endParaRPr lang="en-US" sz="1400" dirty="0">
              <a:solidFill>
                <a:srgbClr val="002060"/>
              </a:solidFill>
            </a:endParaRPr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9A38589B-73F1-9175-BCC7-C1D8C353C2E9}"/>
              </a:ext>
            </a:extLst>
          </p:cNvPr>
          <p:cNvSpPr/>
          <p:nvPr/>
        </p:nvSpPr>
        <p:spPr>
          <a:xfrm>
            <a:off x="3222176" y="3500825"/>
            <a:ext cx="2337093" cy="300525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tecnológico: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7E3D483C-83CB-3513-D4C8-E8B8D247E28B}"/>
              </a:ext>
            </a:extLst>
          </p:cNvPr>
          <p:cNvSpPr/>
          <p:nvPr/>
        </p:nvSpPr>
        <p:spPr>
          <a:xfrm>
            <a:off x="550243" y="3975623"/>
            <a:ext cx="1415717" cy="347472"/>
          </a:xfrm>
          <a:prstGeom prst="rect">
            <a:avLst/>
          </a:prstGeom>
          <a:solidFill>
            <a:schemeClr val="bg1"/>
          </a:solidFill>
          <a:ln w="12700">
            <a:noFill/>
            <a:prstDash val="solid"/>
          </a:ln>
        </p:spPr>
        <p:txBody>
          <a:bodyPr/>
          <a:lstStyle/>
          <a:p>
            <a:endParaRPr lang="es-ES" sz="3600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F82738C1-138D-543B-CF6A-315DA460B9EF}"/>
              </a:ext>
            </a:extLst>
          </p:cNvPr>
          <p:cNvSpPr/>
          <p:nvPr/>
        </p:nvSpPr>
        <p:spPr>
          <a:xfrm>
            <a:off x="550243" y="3993911"/>
            <a:ext cx="1415717" cy="3200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JADE 4.6</a:t>
            </a:r>
            <a:endParaRPr lang="en-US" sz="1600" dirty="0">
              <a:solidFill>
                <a:srgbClr val="002060"/>
              </a:solidFill>
            </a:endParaRPr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C442AAFF-E610-CD12-DC44-34DFCF40040D}"/>
              </a:ext>
            </a:extLst>
          </p:cNvPr>
          <p:cNvSpPr/>
          <p:nvPr/>
        </p:nvSpPr>
        <p:spPr>
          <a:xfrm>
            <a:off x="2214451" y="3975623"/>
            <a:ext cx="1415717" cy="347472"/>
          </a:xfrm>
          <a:prstGeom prst="rect">
            <a:avLst/>
          </a:prstGeom>
          <a:solidFill>
            <a:schemeClr val="bg1"/>
          </a:solidFill>
          <a:ln w="12700">
            <a:noFill/>
            <a:prstDash val="solid"/>
          </a:ln>
        </p:spPr>
        <p:txBody>
          <a:bodyPr/>
          <a:lstStyle/>
          <a:p>
            <a:endParaRPr lang="es-ES" sz="3600">
              <a:solidFill>
                <a:srgbClr val="002060"/>
              </a:solidFill>
            </a:endParaRPr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47F79C4D-33A6-8538-A9FC-163C3A5394CC}"/>
              </a:ext>
            </a:extLst>
          </p:cNvPr>
          <p:cNvSpPr/>
          <p:nvPr/>
        </p:nvSpPr>
        <p:spPr>
          <a:xfrm>
            <a:off x="2214451" y="3993911"/>
            <a:ext cx="1415717" cy="3200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Swing</a:t>
            </a:r>
            <a:endParaRPr lang="en-US" sz="1600" dirty="0">
              <a:solidFill>
                <a:srgbClr val="002060"/>
              </a:solidFill>
            </a:endParaRPr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ADDA8936-76E7-B1E8-65CA-E6660CD77DF6}"/>
              </a:ext>
            </a:extLst>
          </p:cNvPr>
          <p:cNvSpPr/>
          <p:nvPr/>
        </p:nvSpPr>
        <p:spPr>
          <a:xfrm>
            <a:off x="3878659" y="3975623"/>
            <a:ext cx="1415717" cy="347472"/>
          </a:xfrm>
          <a:prstGeom prst="rect">
            <a:avLst/>
          </a:prstGeom>
          <a:solidFill>
            <a:schemeClr val="bg1"/>
          </a:solidFill>
          <a:ln w="12700">
            <a:noFill/>
            <a:prstDash val="solid"/>
          </a:ln>
        </p:spPr>
        <p:txBody>
          <a:bodyPr/>
          <a:lstStyle/>
          <a:p>
            <a:endParaRPr lang="es-ES" sz="3600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3048DECA-90CE-EF5A-EA23-5D941C23B5FE}"/>
              </a:ext>
            </a:extLst>
          </p:cNvPr>
          <p:cNvSpPr/>
          <p:nvPr/>
        </p:nvSpPr>
        <p:spPr>
          <a:xfrm>
            <a:off x="3878659" y="3993911"/>
            <a:ext cx="1415717" cy="3200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Weka J48</a:t>
            </a:r>
            <a:endParaRPr lang="en-US" sz="1600" dirty="0">
              <a:solidFill>
                <a:srgbClr val="002060"/>
              </a:solidFill>
            </a:endParaRPr>
          </a:p>
        </p:txBody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DB608FBE-4DE4-6390-50B8-37AB1E779A55}"/>
              </a:ext>
            </a:extLst>
          </p:cNvPr>
          <p:cNvSpPr/>
          <p:nvPr/>
        </p:nvSpPr>
        <p:spPr>
          <a:xfrm>
            <a:off x="5542867" y="3975623"/>
            <a:ext cx="1415717" cy="347472"/>
          </a:xfrm>
          <a:prstGeom prst="rect">
            <a:avLst/>
          </a:prstGeom>
          <a:solidFill>
            <a:schemeClr val="bg1"/>
          </a:solidFill>
          <a:ln w="12700">
            <a:noFill/>
            <a:prstDash val="solid"/>
          </a:ln>
        </p:spPr>
        <p:txBody>
          <a:bodyPr/>
          <a:lstStyle/>
          <a:p>
            <a:endParaRPr lang="es-ES" sz="3600"/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445CDA1A-EA34-5674-D5FB-7F4D1FFBD07B}"/>
              </a:ext>
            </a:extLst>
          </p:cNvPr>
          <p:cNvSpPr/>
          <p:nvPr/>
        </p:nvSpPr>
        <p:spPr>
          <a:xfrm>
            <a:off x="5542867" y="3993911"/>
            <a:ext cx="1415717" cy="3200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Eclipse</a:t>
            </a:r>
            <a:endParaRPr lang="en-US" sz="1600" dirty="0">
              <a:solidFill>
                <a:srgbClr val="002060"/>
              </a:solidFill>
            </a:endParaRPr>
          </a:p>
        </p:txBody>
      </p:sp>
      <p:sp>
        <p:nvSpPr>
          <p:cNvPr id="38" name="Shape 36">
            <a:extLst>
              <a:ext uri="{FF2B5EF4-FFF2-40B4-BE49-F238E27FC236}">
                <a16:creationId xmlns:a16="http://schemas.microsoft.com/office/drawing/2014/main" id="{5618CDD1-CA43-05A7-A586-DC89BA214703}"/>
              </a:ext>
            </a:extLst>
          </p:cNvPr>
          <p:cNvSpPr/>
          <p:nvPr/>
        </p:nvSpPr>
        <p:spPr>
          <a:xfrm>
            <a:off x="7207075" y="3975623"/>
            <a:ext cx="1415717" cy="347472"/>
          </a:xfrm>
          <a:prstGeom prst="rect">
            <a:avLst/>
          </a:prstGeom>
          <a:solidFill>
            <a:schemeClr val="bg1"/>
          </a:solidFill>
          <a:ln w="12700">
            <a:noFill/>
            <a:prstDash val="solid"/>
          </a:ln>
        </p:spPr>
        <p:txBody>
          <a:bodyPr/>
          <a:lstStyle/>
          <a:p>
            <a:endParaRPr lang="es-ES" sz="3600"/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2CA0D494-1055-9D5D-79CA-ED7B44299156}"/>
              </a:ext>
            </a:extLst>
          </p:cNvPr>
          <p:cNvSpPr/>
          <p:nvPr/>
        </p:nvSpPr>
        <p:spPr>
          <a:xfrm>
            <a:off x="7207075" y="3993911"/>
            <a:ext cx="1415717" cy="3200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</a:t>
            </a:r>
            <a:endParaRPr lang="en-US" sz="1600" dirty="0">
              <a:solidFill>
                <a:srgbClr val="002060"/>
              </a:solidFill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964DAB2C-13F7-1329-6B54-FEAF15EBA2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6505" y="228686"/>
            <a:ext cx="3551316" cy="102559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340455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7A5B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5486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del Sistema</a:t>
            </a:r>
            <a:endParaRPr lang="en-US" sz="3000" dirty="0"/>
          </a:p>
        </p:txBody>
      </p:sp>
      <p:pic>
        <p:nvPicPr>
          <p:cNvPr id="83" name="Imagen 82">
            <a:extLst>
              <a:ext uri="{FF2B5EF4-FFF2-40B4-BE49-F238E27FC236}">
                <a16:creationId xmlns:a16="http://schemas.microsoft.com/office/drawing/2014/main" id="{5E7725F6-64D8-7BD6-6BC5-4ED38744303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742" t="704" r="195" b="8242"/>
          <a:stretch>
            <a:fillRect/>
          </a:stretch>
        </p:blipFill>
        <p:spPr>
          <a:xfrm>
            <a:off x="457200" y="758952"/>
            <a:ext cx="8234896" cy="374567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3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7BB6D95-3EC9-1925-530D-A6E77A8740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A7B2EB0-FCB6-1480-3860-1C2210AF5C81}"/>
              </a:ext>
            </a:extLst>
          </p:cNvPr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7A5B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65FD9BB-49B7-713E-F98F-D296F7DC1510}"/>
              </a:ext>
            </a:extLst>
          </p:cNvPr>
          <p:cNvSpPr/>
          <p:nvPr/>
        </p:nvSpPr>
        <p:spPr>
          <a:xfrm>
            <a:off x="457200" y="164592"/>
            <a:ext cx="5486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del Sistema</a:t>
            </a:r>
            <a:endParaRPr lang="en-US" sz="30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0065872-E352-5421-0C64-4AE700CCA45E}"/>
              </a:ext>
            </a:extLst>
          </p:cNvPr>
          <p:cNvSpPr/>
          <p:nvPr/>
        </p:nvSpPr>
        <p:spPr>
          <a:xfrm>
            <a:off x="2080260" y="777240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Concurrencia real: 3 pacientes × 2 nutricionistas en paralelo</a:t>
            </a:r>
            <a:endParaRPr lang="en-US" sz="1400" b="1" dirty="0">
              <a:solidFill>
                <a:srgbClr val="002060"/>
              </a:solidFill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977F9A44-F810-6567-6C06-254E66754E9A}"/>
              </a:ext>
            </a:extLst>
          </p:cNvPr>
          <p:cNvSpPr/>
          <p:nvPr/>
        </p:nvSpPr>
        <p:spPr>
          <a:xfrm>
            <a:off x="182880" y="1234440"/>
            <a:ext cx="1234440" cy="1005840"/>
          </a:xfrm>
          <a:prstGeom prst="rect">
            <a:avLst/>
          </a:prstGeom>
          <a:solidFill>
            <a:srgbClr val="1A5276"/>
          </a:solidFill>
          <a:ln/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15F37EBE-6695-D96B-EEA9-FADF86521DE8}"/>
              </a:ext>
            </a:extLst>
          </p:cNvPr>
          <p:cNvSpPr/>
          <p:nvPr/>
        </p:nvSpPr>
        <p:spPr>
          <a:xfrm>
            <a:off x="182880" y="1234440"/>
            <a:ext cx="1234440" cy="45720"/>
          </a:xfrm>
          <a:prstGeom prst="rect">
            <a:avLst/>
          </a:prstGeom>
          <a:solidFill>
            <a:srgbClr val="17A5B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CE9ABA5A-7161-54CA-5670-B306AAE49777}"/>
              </a:ext>
            </a:extLst>
          </p:cNvPr>
          <p:cNvSpPr/>
          <p:nvPr/>
        </p:nvSpPr>
        <p:spPr>
          <a:xfrm>
            <a:off x="182880" y="182880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Paciente 1</a:t>
            </a:r>
            <a:endParaRPr lang="en-US" sz="1000" b="1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D1C9BF1A-165E-9BB6-41CE-6928498F13F2}"/>
              </a:ext>
            </a:extLst>
          </p:cNvPr>
          <p:cNvSpPr/>
          <p:nvPr/>
        </p:nvSpPr>
        <p:spPr>
          <a:xfrm>
            <a:off x="1600200" y="1234440"/>
            <a:ext cx="1234440" cy="1005840"/>
          </a:xfrm>
          <a:prstGeom prst="rect">
            <a:avLst/>
          </a:prstGeom>
          <a:solidFill>
            <a:srgbClr val="1A5276"/>
          </a:solidFill>
          <a:ln/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80DDCEF7-0C67-684D-F840-2C19ADD77DC8}"/>
              </a:ext>
            </a:extLst>
          </p:cNvPr>
          <p:cNvSpPr/>
          <p:nvPr/>
        </p:nvSpPr>
        <p:spPr>
          <a:xfrm>
            <a:off x="1600200" y="1234440"/>
            <a:ext cx="1234440" cy="45720"/>
          </a:xfrm>
          <a:prstGeom prst="rect">
            <a:avLst/>
          </a:prstGeom>
          <a:solidFill>
            <a:srgbClr val="17A5B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166E99EC-F02C-E726-F105-88FBC1F681A6}"/>
              </a:ext>
            </a:extLst>
          </p:cNvPr>
          <p:cNvSpPr/>
          <p:nvPr/>
        </p:nvSpPr>
        <p:spPr>
          <a:xfrm>
            <a:off x="1600200" y="182880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Paciente 2</a:t>
            </a:r>
            <a:endParaRPr lang="en-US" sz="1000" b="1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C9C225AB-85C6-BB7C-993C-6D91CD176AD5}"/>
              </a:ext>
            </a:extLst>
          </p:cNvPr>
          <p:cNvSpPr/>
          <p:nvPr/>
        </p:nvSpPr>
        <p:spPr>
          <a:xfrm>
            <a:off x="3017520" y="1234440"/>
            <a:ext cx="1234440" cy="1005840"/>
          </a:xfrm>
          <a:prstGeom prst="rect">
            <a:avLst/>
          </a:prstGeom>
          <a:solidFill>
            <a:srgbClr val="1A5276"/>
          </a:solidFill>
          <a:ln/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953E028C-2609-C146-3341-2944E7D736E4}"/>
              </a:ext>
            </a:extLst>
          </p:cNvPr>
          <p:cNvSpPr/>
          <p:nvPr/>
        </p:nvSpPr>
        <p:spPr>
          <a:xfrm>
            <a:off x="3017520" y="1234440"/>
            <a:ext cx="1234440" cy="45720"/>
          </a:xfrm>
          <a:prstGeom prst="rect">
            <a:avLst/>
          </a:prstGeom>
          <a:solidFill>
            <a:srgbClr val="17A5B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43C6017B-B075-864F-937D-82DBE1D87183}"/>
              </a:ext>
            </a:extLst>
          </p:cNvPr>
          <p:cNvSpPr/>
          <p:nvPr/>
        </p:nvSpPr>
        <p:spPr>
          <a:xfrm>
            <a:off x="3017520" y="182880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Paciente 3</a:t>
            </a:r>
            <a:endParaRPr lang="en-US" sz="1000" b="1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FAA24EBB-5E80-D1F8-2BE4-AF733492DA2C}"/>
              </a:ext>
            </a:extLst>
          </p:cNvPr>
          <p:cNvSpPr/>
          <p:nvPr/>
        </p:nvSpPr>
        <p:spPr>
          <a:xfrm>
            <a:off x="-731520" y="233629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Ventanas simultáneas</a:t>
            </a:r>
            <a:endParaRPr lang="en-US" sz="900" dirty="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DFA6A1E8-5578-BE44-F574-37C7FDE3A56E}"/>
              </a:ext>
            </a:extLst>
          </p:cNvPr>
          <p:cNvSpPr/>
          <p:nvPr/>
        </p:nvSpPr>
        <p:spPr>
          <a:xfrm>
            <a:off x="521208" y="2240280"/>
            <a:ext cx="0" cy="411480"/>
          </a:xfrm>
          <a:prstGeom prst="line">
            <a:avLst/>
          </a:prstGeom>
          <a:noFill/>
          <a:ln w="25400">
            <a:solidFill>
              <a:srgbClr val="17A5B8"/>
            </a:solidFill>
            <a:prstDash val="solid"/>
            <a:tailEnd type="arrow"/>
          </a:ln>
        </p:spPr>
        <p:txBody>
          <a:bodyPr/>
          <a:lstStyle/>
          <a:p>
            <a:endParaRPr lang="es-ES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26D6B27C-980A-44FA-FAF6-85606D9D0348}"/>
              </a:ext>
            </a:extLst>
          </p:cNvPr>
          <p:cNvSpPr/>
          <p:nvPr/>
        </p:nvSpPr>
        <p:spPr>
          <a:xfrm>
            <a:off x="1938528" y="2240280"/>
            <a:ext cx="0" cy="411480"/>
          </a:xfrm>
          <a:prstGeom prst="line">
            <a:avLst/>
          </a:prstGeom>
          <a:noFill/>
          <a:ln w="25400">
            <a:solidFill>
              <a:srgbClr val="17A5B8"/>
            </a:solidFill>
            <a:prstDash val="solid"/>
            <a:tailEnd type="arrow"/>
          </a:ln>
        </p:spPr>
        <p:txBody>
          <a:bodyPr/>
          <a:lstStyle/>
          <a:p>
            <a:endParaRPr lang="es-ES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39C5001C-53E0-B23C-701D-CD6FBECF8061}"/>
              </a:ext>
            </a:extLst>
          </p:cNvPr>
          <p:cNvSpPr/>
          <p:nvPr/>
        </p:nvSpPr>
        <p:spPr>
          <a:xfrm>
            <a:off x="3355848" y="2240280"/>
            <a:ext cx="0" cy="411480"/>
          </a:xfrm>
          <a:prstGeom prst="line">
            <a:avLst/>
          </a:prstGeom>
          <a:noFill/>
          <a:ln w="25400">
            <a:solidFill>
              <a:srgbClr val="17A5B8"/>
            </a:solidFill>
            <a:prstDash val="solid"/>
            <a:tailEnd type="arrow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7349D808-6666-BB55-3B22-4375519415A5}"/>
              </a:ext>
            </a:extLst>
          </p:cNvPr>
          <p:cNvSpPr/>
          <p:nvPr/>
        </p:nvSpPr>
        <p:spPr>
          <a:xfrm>
            <a:off x="182880" y="2633472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7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O2A</a:t>
            </a:r>
            <a:endParaRPr lang="en-US" sz="850" dirty="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62172FE0-9D92-40A4-CD58-324EF600F43F}"/>
              </a:ext>
            </a:extLst>
          </p:cNvPr>
          <p:cNvSpPr/>
          <p:nvPr/>
        </p:nvSpPr>
        <p:spPr>
          <a:xfrm>
            <a:off x="182880" y="2926080"/>
            <a:ext cx="1234440" cy="914400"/>
          </a:xfrm>
          <a:prstGeom prst="rect">
            <a:avLst/>
          </a:prstGeom>
          <a:solidFill>
            <a:srgbClr val="17A5B8"/>
          </a:solidFill>
          <a:ln/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88F14D39-11C7-972C-A4FD-FD5128D1387C}"/>
              </a:ext>
            </a:extLst>
          </p:cNvPr>
          <p:cNvSpPr/>
          <p:nvPr/>
        </p:nvSpPr>
        <p:spPr>
          <a:xfrm>
            <a:off x="182880" y="2926080"/>
            <a:ext cx="1234440" cy="45720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2D489D68-AFDB-6329-9D70-A2725ED2594B}"/>
              </a:ext>
            </a:extLst>
          </p:cNvPr>
          <p:cNvSpPr/>
          <p:nvPr/>
        </p:nvSpPr>
        <p:spPr>
          <a:xfrm>
            <a:off x="182880" y="347472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AgentePaciente1</a:t>
            </a:r>
            <a:endParaRPr lang="en-US" sz="900" b="1" dirty="0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B0E48C79-440A-8573-E16E-0BD5BF1C5F3D}"/>
              </a:ext>
            </a:extLst>
          </p:cNvPr>
          <p:cNvSpPr/>
          <p:nvPr/>
        </p:nvSpPr>
        <p:spPr>
          <a:xfrm>
            <a:off x="1600200" y="2926080"/>
            <a:ext cx="1234440" cy="914400"/>
          </a:xfrm>
          <a:prstGeom prst="rect">
            <a:avLst/>
          </a:prstGeom>
          <a:solidFill>
            <a:srgbClr val="17A5B8"/>
          </a:solidFill>
          <a:ln/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ED51A953-36CB-CF48-DAE6-841C678FD4EB}"/>
              </a:ext>
            </a:extLst>
          </p:cNvPr>
          <p:cNvSpPr/>
          <p:nvPr/>
        </p:nvSpPr>
        <p:spPr>
          <a:xfrm>
            <a:off x="1600200" y="2926080"/>
            <a:ext cx="1234440" cy="45720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0D55349B-C365-70ED-B22A-5DB1E6CCEB22}"/>
              </a:ext>
            </a:extLst>
          </p:cNvPr>
          <p:cNvSpPr/>
          <p:nvPr/>
        </p:nvSpPr>
        <p:spPr>
          <a:xfrm>
            <a:off x="1600200" y="347472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AgentePaciente2</a:t>
            </a:r>
            <a:endParaRPr lang="en-US" sz="900" b="1" dirty="0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2AB2B578-4938-6791-F8A5-3638C644A9AC}"/>
              </a:ext>
            </a:extLst>
          </p:cNvPr>
          <p:cNvSpPr/>
          <p:nvPr/>
        </p:nvSpPr>
        <p:spPr>
          <a:xfrm>
            <a:off x="3017520" y="2926080"/>
            <a:ext cx="1234440" cy="914400"/>
          </a:xfrm>
          <a:prstGeom prst="rect">
            <a:avLst/>
          </a:prstGeom>
          <a:solidFill>
            <a:srgbClr val="17A5B8"/>
          </a:solidFill>
          <a:ln/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82820113-C148-76A7-9754-6A83196A4488}"/>
              </a:ext>
            </a:extLst>
          </p:cNvPr>
          <p:cNvSpPr/>
          <p:nvPr/>
        </p:nvSpPr>
        <p:spPr>
          <a:xfrm>
            <a:off x="3017520" y="2926080"/>
            <a:ext cx="1234440" cy="45720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E89CA57F-B205-4FD1-1FF7-335A492A4FF5}"/>
              </a:ext>
            </a:extLst>
          </p:cNvPr>
          <p:cNvSpPr/>
          <p:nvPr/>
        </p:nvSpPr>
        <p:spPr>
          <a:xfrm>
            <a:off x="3017520" y="347472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AgentePaciente3</a:t>
            </a:r>
            <a:endParaRPr lang="en-US" sz="900" b="1" dirty="0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D17ADED6-838B-97EC-41C0-866F178932B0}"/>
              </a:ext>
            </a:extLst>
          </p:cNvPr>
          <p:cNvSpPr/>
          <p:nvPr/>
        </p:nvSpPr>
        <p:spPr>
          <a:xfrm>
            <a:off x="787124" y="3840480"/>
            <a:ext cx="3025924" cy="517039"/>
          </a:xfrm>
          <a:prstGeom prst="line">
            <a:avLst/>
          </a:prstGeom>
          <a:noFill/>
          <a:ln w="19050">
            <a:solidFill>
              <a:srgbClr val="17A5B8"/>
            </a:solidFill>
            <a:prstDash val="dash"/>
            <a:tailEnd type="arrow"/>
          </a:ln>
        </p:spPr>
        <p:txBody>
          <a:bodyPr/>
          <a:lstStyle/>
          <a:p>
            <a:endParaRPr lang="es-ES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4F72DC69-5F65-B0CB-729F-5D2455C5463B}"/>
              </a:ext>
            </a:extLst>
          </p:cNvPr>
          <p:cNvSpPr/>
          <p:nvPr/>
        </p:nvSpPr>
        <p:spPr>
          <a:xfrm flipH="1">
            <a:off x="1266512" y="3840480"/>
            <a:ext cx="946336" cy="525443"/>
          </a:xfrm>
          <a:prstGeom prst="line">
            <a:avLst/>
          </a:prstGeom>
          <a:noFill/>
          <a:ln w="19050">
            <a:solidFill>
              <a:srgbClr val="17A5B8"/>
            </a:solidFill>
            <a:prstDash val="dash"/>
            <a:tailEnd type="arrow"/>
          </a:ln>
        </p:spPr>
        <p:txBody>
          <a:bodyPr/>
          <a:lstStyle/>
          <a:p>
            <a:endParaRPr lang="es-ES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321C8D6F-0C1C-5C83-45C7-0ECF5B5F1644}"/>
              </a:ext>
            </a:extLst>
          </p:cNvPr>
          <p:cNvSpPr/>
          <p:nvPr/>
        </p:nvSpPr>
        <p:spPr>
          <a:xfrm>
            <a:off x="3655381" y="3823672"/>
            <a:ext cx="325755" cy="592678"/>
          </a:xfrm>
          <a:prstGeom prst="line">
            <a:avLst/>
          </a:prstGeom>
          <a:noFill/>
          <a:ln w="19050">
            <a:solidFill>
              <a:srgbClr val="17A5B8"/>
            </a:solidFill>
            <a:prstDash val="dash"/>
            <a:tailEnd type="arrow"/>
          </a:ln>
        </p:spPr>
        <p:txBody>
          <a:bodyPr/>
          <a:lstStyle/>
          <a:p>
            <a:endParaRPr lang="es-ES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6C070F62-9375-105E-F4D6-69FAF0C355D5}"/>
              </a:ext>
            </a:extLst>
          </p:cNvPr>
          <p:cNvSpPr/>
          <p:nvPr/>
        </p:nvSpPr>
        <p:spPr>
          <a:xfrm>
            <a:off x="317351" y="4213165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7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ACL (asignación aleatoria del DF)</a:t>
            </a:r>
            <a:endParaRPr lang="en-US" sz="850" dirty="0"/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91045806-5B9C-1AF3-BDA5-5BFBE7DD2322}"/>
              </a:ext>
            </a:extLst>
          </p:cNvPr>
          <p:cNvSpPr/>
          <p:nvPr/>
        </p:nvSpPr>
        <p:spPr>
          <a:xfrm>
            <a:off x="640080" y="4434840"/>
            <a:ext cx="1645920" cy="548640"/>
          </a:xfrm>
          <a:prstGeom prst="rect">
            <a:avLst/>
          </a:prstGeom>
          <a:solidFill>
            <a:srgbClr val="1A5276"/>
          </a:solidFill>
          <a:ln/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ES" sz="2000" b="1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85572F23-095D-AEC6-D0EE-B093D8238EB3}"/>
              </a:ext>
            </a:extLst>
          </p:cNvPr>
          <p:cNvSpPr/>
          <p:nvPr/>
        </p:nvSpPr>
        <p:spPr>
          <a:xfrm>
            <a:off x="1143000" y="4526280"/>
            <a:ext cx="1051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Nutricionista 1</a:t>
            </a:r>
            <a:endParaRPr lang="en-US" sz="1000" b="1" dirty="0"/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077AB86C-04EC-1050-69B8-E098CD28A6F8}"/>
              </a:ext>
            </a:extLst>
          </p:cNvPr>
          <p:cNvSpPr/>
          <p:nvPr/>
        </p:nvSpPr>
        <p:spPr>
          <a:xfrm>
            <a:off x="3200400" y="4434840"/>
            <a:ext cx="1645920" cy="548640"/>
          </a:xfrm>
          <a:prstGeom prst="rect">
            <a:avLst/>
          </a:prstGeom>
          <a:solidFill>
            <a:srgbClr val="1A5276"/>
          </a:solidFill>
          <a:ln/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ES" sz="2000" b="1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A69E4D88-F67A-E4E2-B27F-3AE9FCD8E8C5}"/>
              </a:ext>
            </a:extLst>
          </p:cNvPr>
          <p:cNvSpPr/>
          <p:nvPr/>
        </p:nvSpPr>
        <p:spPr>
          <a:xfrm>
            <a:off x="3703320" y="4526280"/>
            <a:ext cx="1051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Nutricionista 2</a:t>
            </a:r>
            <a:endParaRPr lang="en-US" sz="1000" b="1" dirty="0"/>
          </a:p>
        </p:txBody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860309E4-5237-9F70-C429-2AC2643D4C15}"/>
              </a:ext>
            </a:extLst>
          </p:cNvPr>
          <p:cNvSpPr/>
          <p:nvPr/>
        </p:nvSpPr>
        <p:spPr>
          <a:xfrm>
            <a:off x="5120640" y="1188720"/>
            <a:ext cx="374904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B2E0E8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7" name="Shape 35">
            <a:extLst>
              <a:ext uri="{FF2B5EF4-FFF2-40B4-BE49-F238E27FC236}">
                <a16:creationId xmlns:a16="http://schemas.microsoft.com/office/drawing/2014/main" id="{41685ED1-E16D-7E59-4D24-09CE01BFCF86}"/>
              </a:ext>
            </a:extLst>
          </p:cNvPr>
          <p:cNvSpPr/>
          <p:nvPr/>
        </p:nvSpPr>
        <p:spPr>
          <a:xfrm>
            <a:off x="5120640" y="1188720"/>
            <a:ext cx="3749040" cy="54864"/>
          </a:xfrm>
          <a:prstGeom prst="rect">
            <a:avLst/>
          </a:prstGeom>
          <a:solidFill>
            <a:srgbClr val="17A5B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F13C611B-8BC5-59CB-BC76-D268B249209D}"/>
              </a:ext>
            </a:extLst>
          </p:cNvPr>
          <p:cNvSpPr/>
          <p:nvPr/>
        </p:nvSpPr>
        <p:spPr>
          <a:xfrm>
            <a:off x="5120640" y="1261872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Agentes Compartidos</a:t>
            </a:r>
            <a:endParaRPr lang="en-US" sz="1200" dirty="0"/>
          </a:p>
        </p:txBody>
      </p:sp>
      <p:sp>
        <p:nvSpPr>
          <p:cNvPr id="39" name="Shape 37">
            <a:extLst>
              <a:ext uri="{FF2B5EF4-FFF2-40B4-BE49-F238E27FC236}">
                <a16:creationId xmlns:a16="http://schemas.microsoft.com/office/drawing/2014/main" id="{C8FE27A9-DE00-1B42-8857-D3E7E7DE9414}"/>
              </a:ext>
            </a:extLst>
          </p:cNvPr>
          <p:cNvSpPr/>
          <p:nvPr/>
        </p:nvSpPr>
        <p:spPr>
          <a:xfrm>
            <a:off x="5349240" y="1783080"/>
            <a:ext cx="3291840" cy="1051560"/>
          </a:xfrm>
          <a:prstGeom prst="rect">
            <a:avLst/>
          </a:prstGeom>
          <a:solidFill>
            <a:srgbClr val="EEF3F8"/>
          </a:solidFill>
          <a:ln/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ES" dirty="0"/>
          </a:p>
        </p:txBody>
      </p:sp>
      <p:sp>
        <p:nvSpPr>
          <p:cNvPr id="40" name="Shape 38">
            <a:extLst>
              <a:ext uri="{FF2B5EF4-FFF2-40B4-BE49-F238E27FC236}">
                <a16:creationId xmlns:a16="http://schemas.microsoft.com/office/drawing/2014/main" id="{6904B540-A097-0861-3D08-A73B09B6864E}"/>
              </a:ext>
            </a:extLst>
          </p:cNvPr>
          <p:cNvSpPr/>
          <p:nvPr/>
        </p:nvSpPr>
        <p:spPr>
          <a:xfrm>
            <a:off x="5486400" y="2057400"/>
            <a:ext cx="502920" cy="502920"/>
          </a:xfrm>
          <a:prstGeom prst="ellipse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2" name="Text 39">
            <a:extLst>
              <a:ext uri="{FF2B5EF4-FFF2-40B4-BE49-F238E27FC236}">
                <a16:creationId xmlns:a16="http://schemas.microsoft.com/office/drawing/2014/main" id="{E8C57F33-68F3-2DEF-FB5F-40509A0431DE}"/>
              </a:ext>
            </a:extLst>
          </p:cNvPr>
          <p:cNvSpPr/>
          <p:nvPr/>
        </p:nvSpPr>
        <p:spPr>
          <a:xfrm>
            <a:off x="6080760" y="194767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AgentePredictor</a:t>
            </a:r>
            <a:endParaRPr lang="en-US" sz="1200" dirty="0"/>
          </a:p>
        </p:txBody>
      </p:sp>
      <p:sp>
        <p:nvSpPr>
          <p:cNvPr id="43" name="Text 40">
            <a:extLst>
              <a:ext uri="{FF2B5EF4-FFF2-40B4-BE49-F238E27FC236}">
                <a16:creationId xmlns:a16="http://schemas.microsoft.com/office/drawing/2014/main" id="{8E05C003-E704-BE91-D231-C50FE8C3908F}"/>
              </a:ext>
            </a:extLst>
          </p:cNvPr>
          <p:cNvSpPr/>
          <p:nvPr/>
        </p:nvSpPr>
        <p:spPr>
          <a:xfrm>
            <a:off x="6080760" y="23317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Weka J48 · 6 glucosas</a:t>
            </a:r>
            <a:endParaRPr lang="en-US" sz="1050" dirty="0"/>
          </a:p>
        </p:txBody>
      </p:sp>
      <p:sp>
        <p:nvSpPr>
          <p:cNvPr id="44" name="Shape 41">
            <a:extLst>
              <a:ext uri="{FF2B5EF4-FFF2-40B4-BE49-F238E27FC236}">
                <a16:creationId xmlns:a16="http://schemas.microsoft.com/office/drawing/2014/main" id="{7A06D48F-A3AC-4F81-F700-6F12225598B5}"/>
              </a:ext>
            </a:extLst>
          </p:cNvPr>
          <p:cNvSpPr/>
          <p:nvPr/>
        </p:nvSpPr>
        <p:spPr>
          <a:xfrm>
            <a:off x="5349240" y="3063240"/>
            <a:ext cx="3291840" cy="1051560"/>
          </a:xfrm>
          <a:prstGeom prst="rect">
            <a:avLst/>
          </a:prstGeom>
          <a:solidFill>
            <a:srgbClr val="EEF3F8"/>
          </a:solidFill>
          <a:ln/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45" name="Shape 42">
            <a:extLst>
              <a:ext uri="{FF2B5EF4-FFF2-40B4-BE49-F238E27FC236}">
                <a16:creationId xmlns:a16="http://schemas.microsoft.com/office/drawing/2014/main" id="{284124B6-F7B2-8840-9735-50C3EDE1B586}"/>
              </a:ext>
            </a:extLst>
          </p:cNvPr>
          <p:cNvSpPr/>
          <p:nvPr/>
        </p:nvSpPr>
        <p:spPr>
          <a:xfrm>
            <a:off x="5486400" y="3337560"/>
            <a:ext cx="502920" cy="502920"/>
          </a:xfrm>
          <a:prstGeom prst="ellipse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7" name="Text 43">
            <a:extLst>
              <a:ext uri="{FF2B5EF4-FFF2-40B4-BE49-F238E27FC236}">
                <a16:creationId xmlns:a16="http://schemas.microsoft.com/office/drawing/2014/main" id="{8F0E1E07-1CDC-B4B9-8157-481C914B3E10}"/>
              </a:ext>
            </a:extLst>
          </p:cNvPr>
          <p:cNvSpPr/>
          <p:nvPr/>
        </p:nvSpPr>
        <p:spPr>
          <a:xfrm>
            <a:off x="6080760" y="322783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AgenteNotificador</a:t>
            </a:r>
            <a:endParaRPr lang="en-US" sz="1200" dirty="0"/>
          </a:p>
        </p:txBody>
      </p:sp>
      <p:sp>
        <p:nvSpPr>
          <p:cNvPr id="48" name="Text 44">
            <a:extLst>
              <a:ext uri="{FF2B5EF4-FFF2-40B4-BE49-F238E27FC236}">
                <a16:creationId xmlns:a16="http://schemas.microsoft.com/office/drawing/2014/main" id="{CD9DA2F9-75C5-84EA-216D-4BE86D405627}"/>
              </a:ext>
            </a:extLst>
          </p:cNvPr>
          <p:cNvSpPr/>
          <p:nvPr/>
        </p:nvSpPr>
        <p:spPr>
          <a:xfrm>
            <a:off x="6080760" y="36118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SMS/Telegram</a:t>
            </a:r>
            <a:endParaRPr lang="en-US" sz="1050" dirty="0"/>
          </a:p>
        </p:txBody>
      </p:sp>
      <p:sp>
        <p:nvSpPr>
          <p:cNvPr id="49" name="Shape 45">
            <a:extLst>
              <a:ext uri="{FF2B5EF4-FFF2-40B4-BE49-F238E27FC236}">
                <a16:creationId xmlns:a16="http://schemas.microsoft.com/office/drawing/2014/main" id="{80EF3C98-4BC0-23B5-7528-8B13E4C48F99}"/>
              </a:ext>
            </a:extLst>
          </p:cNvPr>
          <p:cNvSpPr/>
          <p:nvPr/>
        </p:nvSpPr>
        <p:spPr>
          <a:xfrm>
            <a:off x="5349240" y="4315968"/>
            <a:ext cx="3291840" cy="502920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0" name="Text 46">
            <a:extLst>
              <a:ext uri="{FF2B5EF4-FFF2-40B4-BE49-F238E27FC236}">
                <a16:creationId xmlns:a16="http://schemas.microsoft.com/office/drawing/2014/main" id="{E5B633C0-E0D3-0476-82F1-590B3BC23099}"/>
              </a:ext>
            </a:extLst>
          </p:cNvPr>
          <p:cNvSpPr/>
          <p:nvPr/>
        </p:nvSpPr>
        <p:spPr>
          <a:xfrm>
            <a:off x="5349240" y="4407408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Directory Facilitator — Registro y descubrimiento de agentes</a:t>
            </a:r>
            <a:endParaRPr lang="en-US" sz="1000" dirty="0"/>
          </a:p>
        </p:txBody>
      </p:sp>
      <p:pic>
        <p:nvPicPr>
          <p:cNvPr id="52" name="Imagen 51">
            <a:extLst>
              <a:ext uri="{FF2B5EF4-FFF2-40B4-BE49-F238E27FC236}">
                <a16:creationId xmlns:a16="http://schemas.microsoft.com/office/drawing/2014/main" id="{F0534359-8981-3C25-213A-ADC1C8386F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4980" y="2130552"/>
            <a:ext cx="365760" cy="365760"/>
          </a:xfrm>
          <a:prstGeom prst="rect">
            <a:avLst/>
          </a:prstGeom>
        </p:spPr>
      </p:pic>
      <p:pic>
        <p:nvPicPr>
          <p:cNvPr id="54" name="Imagen 53">
            <a:extLst>
              <a:ext uri="{FF2B5EF4-FFF2-40B4-BE49-F238E27FC236}">
                <a16:creationId xmlns:a16="http://schemas.microsoft.com/office/drawing/2014/main" id="{B1A0613D-74EC-47B8-DFC7-733A1AB5F1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43550" y="3394710"/>
            <a:ext cx="388620" cy="388620"/>
          </a:xfrm>
          <a:prstGeom prst="rect">
            <a:avLst/>
          </a:prstGeom>
        </p:spPr>
      </p:pic>
      <p:pic>
        <p:nvPicPr>
          <p:cNvPr id="57" name="Imagen 56">
            <a:extLst>
              <a:ext uri="{FF2B5EF4-FFF2-40B4-BE49-F238E27FC236}">
                <a16:creationId xmlns:a16="http://schemas.microsoft.com/office/drawing/2014/main" id="{39547BC5-8FA5-5EE0-A705-83786B7DC1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1728" y="4448049"/>
            <a:ext cx="553719" cy="553719"/>
          </a:xfrm>
          <a:prstGeom prst="rect">
            <a:avLst/>
          </a:prstGeom>
        </p:spPr>
      </p:pic>
      <p:pic>
        <p:nvPicPr>
          <p:cNvPr id="63" name="Imagen 62">
            <a:extLst>
              <a:ext uri="{FF2B5EF4-FFF2-40B4-BE49-F238E27FC236}">
                <a16:creationId xmlns:a16="http://schemas.microsoft.com/office/drawing/2014/main" id="{EBA5F06D-B55E-0ADD-23DE-AD664C5ED91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25292" y="4428490"/>
            <a:ext cx="553720" cy="553720"/>
          </a:xfrm>
          <a:prstGeom prst="rect">
            <a:avLst/>
          </a:prstGeom>
        </p:spPr>
      </p:pic>
      <p:pic>
        <p:nvPicPr>
          <p:cNvPr id="73" name="Imagen 72">
            <a:extLst>
              <a:ext uri="{FF2B5EF4-FFF2-40B4-BE49-F238E27FC236}">
                <a16:creationId xmlns:a16="http://schemas.microsoft.com/office/drawing/2014/main" id="{D0E8B26E-8587-B239-071C-067D5EBEBFC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59091" y="1261872"/>
            <a:ext cx="742153" cy="742153"/>
          </a:xfrm>
          <a:prstGeom prst="rect">
            <a:avLst/>
          </a:prstGeom>
        </p:spPr>
      </p:pic>
      <p:pic>
        <p:nvPicPr>
          <p:cNvPr id="77" name="Imagen 76">
            <a:extLst>
              <a:ext uri="{FF2B5EF4-FFF2-40B4-BE49-F238E27FC236}">
                <a16:creationId xmlns:a16="http://schemas.microsoft.com/office/drawing/2014/main" id="{824F231B-B953-6DD5-6BBB-689988FCE26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2394" y="1270870"/>
            <a:ext cx="676802" cy="676802"/>
          </a:xfrm>
          <a:prstGeom prst="rect">
            <a:avLst/>
          </a:prstGeom>
        </p:spPr>
      </p:pic>
      <p:pic>
        <p:nvPicPr>
          <p:cNvPr id="79" name="Imagen 78">
            <a:extLst>
              <a:ext uri="{FF2B5EF4-FFF2-40B4-BE49-F238E27FC236}">
                <a16:creationId xmlns:a16="http://schemas.microsoft.com/office/drawing/2014/main" id="{D68AF573-2157-D665-2E7F-0D07BB80D19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43939" y="1262216"/>
            <a:ext cx="726604" cy="726604"/>
          </a:xfrm>
          <a:prstGeom prst="rect">
            <a:avLst/>
          </a:prstGeom>
        </p:spPr>
      </p:pic>
      <p:pic>
        <p:nvPicPr>
          <p:cNvPr id="80" name="Imagen 79">
            <a:extLst>
              <a:ext uri="{FF2B5EF4-FFF2-40B4-BE49-F238E27FC236}">
                <a16:creationId xmlns:a16="http://schemas.microsoft.com/office/drawing/2014/main" id="{FAD0550F-060A-7136-B113-3013E2A0826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8610" y="3108960"/>
            <a:ext cx="404369" cy="404369"/>
          </a:xfrm>
          <a:prstGeom prst="rect">
            <a:avLst/>
          </a:prstGeom>
        </p:spPr>
      </p:pic>
      <p:pic>
        <p:nvPicPr>
          <p:cNvPr id="81" name="Imagen 80">
            <a:extLst>
              <a:ext uri="{FF2B5EF4-FFF2-40B4-BE49-F238E27FC236}">
                <a16:creationId xmlns:a16="http://schemas.microsoft.com/office/drawing/2014/main" id="{EDA628E0-5A0C-9A2E-2D18-B5E8BB1426F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38095" y="3108959"/>
            <a:ext cx="404369" cy="404369"/>
          </a:xfrm>
          <a:prstGeom prst="rect">
            <a:avLst/>
          </a:prstGeom>
        </p:spPr>
      </p:pic>
      <p:pic>
        <p:nvPicPr>
          <p:cNvPr id="82" name="Imagen 81">
            <a:extLst>
              <a:ext uri="{FF2B5EF4-FFF2-40B4-BE49-F238E27FC236}">
                <a16:creationId xmlns:a16="http://schemas.microsoft.com/office/drawing/2014/main" id="{CA79A5A7-A4E4-9668-E772-5AF2419ECAB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27982" y="3103443"/>
            <a:ext cx="404369" cy="404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99951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7A5B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de Datos Clínicos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variables clínicas recorriendo 4 agentes hasta el diagnóstico final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2011680" cy="3611880"/>
          </a:xfrm>
          <a:prstGeom prst="rect">
            <a:avLst/>
          </a:prstGeom>
          <a:solidFill>
            <a:schemeClr val="accent5">
              <a:lumMod val="50000"/>
            </a:schemeClr>
          </a:solidFill>
          <a:ln/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320040" y="1234440"/>
            <a:ext cx="2011680" cy="54864"/>
          </a:xfrm>
          <a:prstGeom prst="rect">
            <a:avLst/>
          </a:prstGeom>
          <a:solidFill>
            <a:srgbClr val="17A5B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320040" y="1261872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600" dirty="0">
              <a:solidFill>
                <a:schemeClr val="bg1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320040" y="18288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 GUI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2377440"/>
            <a:ext cx="54864" cy="274320"/>
          </a:xfrm>
          <a:prstGeom prst="rect">
            <a:avLst/>
          </a:prstGeom>
          <a:solidFill>
            <a:srgbClr val="17A5B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640080" y="2359152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Nombre, edad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02920" y="2852928"/>
            <a:ext cx="54864" cy="274320"/>
          </a:xfrm>
          <a:prstGeom prst="rect">
            <a:avLst/>
          </a:prstGeom>
          <a:solidFill>
            <a:srgbClr val="17A5B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640080" y="283464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Glucosa ayunas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2920" y="3328416"/>
            <a:ext cx="54864" cy="274320"/>
          </a:xfrm>
          <a:prstGeom prst="rect">
            <a:avLst/>
          </a:prstGeom>
          <a:solidFill>
            <a:srgbClr val="17A5B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640080" y="3310128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Carb. desayuno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02920" y="3803904"/>
            <a:ext cx="54864" cy="274320"/>
          </a:xfrm>
          <a:prstGeom prst="rect">
            <a:avLst/>
          </a:prstGeom>
          <a:solidFill>
            <a:srgbClr val="17A5B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640080" y="3785616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Glucosa post-desayuno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02920" y="4279392"/>
            <a:ext cx="54864" cy="274320"/>
          </a:xfrm>
          <a:prstGeom prst="rect">
            <a:avLst/>
          </a:prstGeom>
          <a:solidFill>
            <a:srgbClr val="17A5B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640080" y="4261104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tarde y noche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468880" y="1234440"/>
            <a:ext cx="2011680" cy="3611880"/>
          </a:xfrm>
          <a:prstGeom prst="rect">
            <a:avLst/>
          </a:prstGeom>
          <a:solidFill>
            <a:srgbClr val="17A5B8"/>
          </a:solidFill>
          <a:ln/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0" name="Shape 18"/>
          <p:cNvSpPr/>
          <p:nvPr/>
        </p:nvSpPr>
        <p:spPr>
          <a:xfrm>
            <a:off x="2468880" y="1234440"/>
            <a:ext cx="2011680" cy="54864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1" name="Text 19"/>
          <p:cNvSpPr/>
          <p:nvPr/>
        </p:nvSpPr>
        <p:spPr>
          <a:xfrm>
            <a:off x="2468880" y="1261872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600" dirty="0">
              <a:solidFill>
                <a:schemeClr val="bg1"/>
              </a:solidFill>
            </a:endParaRPr>
          </a:p>
        </p:txBody>
      </p:sp>
      <p:sp>
        <p:nvSpPr>
          <p:cNvPr id="22" name="Text 20"/>
          <p:cNvSpPr/>
          <p:nvPr/>
        </p:nvSpPr>
        <p:spPr>
          <a:xfrm>
            <a:off x="2468880" y="18288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Nutri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651760" y="2377440"/>
            <a:ext cx="54864" cy="274320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4" name="Text 22"/>
          <p:cNvSpPr/>
          <p:nvPr/>
        </p:nvSpPr>
        <p:spPr>
          <a:xfrm>
            <a:off x="2788920" y="2359152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Evalúa carbohidratos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651760" y="2852928"/>
            <a:ext cx="54864" cy="274320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6" name="Text 24"/>
          <p:cNvSpPr/>
          <p:nvPr/>
        </p:nvSpPr>
        <p:spPr>
          <a:xfrm>
            <a:off x="2788920" y="283464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Desayuno &gt; 60g: alerta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651760" y="3328416"/>
            <a:ext cx="54864" cy="274320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8" name="Text 26"/>
          <p:cNvSpPr/>
          <p:nvPr/>
        </p:nvSpPr>
        <p:spPr>
          <a:xfrm>
            <a:off x="2788920" y="3310128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Comida &gt; 75g: alerta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651760" y="3803904"/>
            <a:ext cx="54864" cy="274320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0" name="Text 28"/>
          <p:cNvSpPr/>
          <p:nvPr/>
        </p:nvSpPr>
        <p:spPr>
          <a:xfrm>
            <a:off x="2788920" y="3785616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Cena &gt; 45g: alerta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2651760" y="4279392"/>
            <a:ext cx="54864" cy="274320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2" name="Text 30"/>
          <p:cNvSpPr/>
          <p:nvPr/>
        </p:nvSpPr>
        <p:spPr>
          <a:xfrm>
            <a:off x="2788920" y="4261104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Devuelve datos al Paciente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617720" y="1234440"/>
            <a:ext cx="2011680" cy="3611880"/>
          </a:xfrm>
          <a:prstGeom prst="rect">
            <a:avLst/>
          </a:prstGeom>
          <a:solidFill>
            <a:schemeClr val="accent5">
              <a:lumMod val="50000"/>
            </a:schemeClr>
          </a:solidFill>
          <a:ln/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4" name="Shape 32"/>
          <p:cNvSpPr/>
          <p:nvPr/>
        </p:nvSpPr>
        <p:spPr>
          <a:xfrm>
            <a:off x="4617720" y="1234440"/>
            <a:ext cx="2011680" cy="54864"/>
          </a:xfrm>
          <a:prstGeom prst="rect">
            <a:avLst/>
          </a:prstGeom>
          <a:solidFill>
            <a:srgbClr val="17A5B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5" name="Text 33"/>
          <p:cNvSpPr/>
          <p:nvPr/>
        </p:nvSpPr>
        <p:spPr>
          <a:xfrm>
            <a:off x="4617720" y="1261872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>
              <a:solidFill>
                <a:schemeClr val="bg1"/>
              </a:solidFill>
            </a:endParaRPr>
          </a:p>
        </p:txBody>
      </p:sp>
      <p:sp>
        <p:nvSpPr>
          <p:cNvPr id="36" name="Text 34"/>
          <p:cNvSpPr/>
          <p:nvPr/>
        </p:nvSpPr>
        <p:spPr>
          <a:xfrm>
            <a:off x="4617720" y="18288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Predicción IA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4800600" y="2377440"/>
            <a:ext cx="54864" cy="274320"/>
          </a:xfrm>
          <a:prstGeom prst="rect">
            <a:avLst/>
          </a:prstGeom>
          <a:solidFill>
            <a:srgbClr val="17A5B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8" name="Text 36"/>
          <p:cNvSpPr/>
          <p:nvPr/>
        </p:nvSpPr>
        <p:spPr>
          <a:xfrm>
            <a:off x="4937760" y="2359152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Extrae 6 glucosas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800600" y="2852928"/>
            <a:ext cx="54864" cy="274320"/>
          </a:xfrm>
          <a:prstGeom prst="rect">
            <a:avLst/>
          </a:prstGeom>
          <a:solidFill>
            <a:srgbClr val="17A5B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0" name="Text 38"/>
          <p:cNvSpPr/>
          <p:nvPr/>
        </p:nvSpPr>
        <p:spPr>
          <a:xfrm>
            <a:off x="4937760" y="283464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Ignora carbohidratos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800600" y="3328416"/>
            <a:ext cx="54864" cy="274320"/>
          </a:xfrm>
          <a:prstGeom prst="rect">
            <a:avLst/>
          </a:prstGeom>
          <a:solidFill>
            <a:srgbClr val="17A5B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2" name="Text 40"/>
          <p:cNvSpPr/>
          <p:nvPr/>
        </p:nvSpPr>
        <p:spPr>
          <a:xfrm>
            <a:off x="4937760" y="3310128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 Weka J48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4800600" y="3803904"/>
            <a:ext cx="54864" cy="274320"/>
          </a:xfrm>
          <a:prstGeom prst="rect">
            <a:avLst/>
          </a:prstGeom>
          <a:solidFill>
            <a:srgbClr val="17A5B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4" name="Text 42"/>
          <p:cNvSpPr/>
          <p:nvPr/>
        </p:nvSpPr>
        <p:spPr>
          <a:xfrm>
            <a:off x="4937760" y="3785616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 ALTO/BAJO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4800600" y="4279392"/>
            <a:ext cx="54864" cy="274320"/>
          </a:xfrm>
          <a:prstGeom prst="rect">
            <a:avLst/>
          </a:prstGeom>
          <a:solidFill>
            <a:srgbClr val="17A5B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6" name="Text 44"/>
          <p:cNvSpPr/>
          <p:nvPr/>
        </p:nvSpPr>
        <p:spPr>
          <a:xfrm>
            <a:off x="4937760" y="4261104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 si riesgo alto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6766560" y="1234440"/>
            <a:ext cx="2011680" cy="3611880"/>
          </a:xfrm>
          <a:prstGeom prst="rect">
            <a:avLst/>
          </a:prstGeom>
          <a:solidFill>
            <a:srgbClr val="17A5B8"/>
          </a:solidFill>
          <a:ln/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48" name="Shape 46"/>
          <p:cNvSpPr/>
          <p:nvPr/>
        </p:nvSpPr>
        <p:spPr>
          <a:xfrm>
            <a:off x="6766560" y="1234440"/>
            <a:ext cx="2011680" cy="54864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9" name="Text 47"/>
          <p:cNvSpPr/>
          <p:nvPr/>
        </p:nvSpPr>
        <p:spPr>
          <a:xfrm>
            <a:off x="6766560" y="1261872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600" dirty="0">
              <a:solidFill>
                <a:schemeClr val="bg1"/>
              </a:solidFill>
            </a:endParaRPr>
          </a:p>
        </p:txBody>
      </p:sp>
      <p:sp>
        <p:nvSpPr>
          <p:cNvPr id="50" name="Text 48"/>
          <p:cNvSpPr/>
          <p:nvPr/>
        </p:nvSpPr>
        <p:spPr>
          <a:xfrm>
            <a:off x="6766560" y="18288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6949440" y="2377440"/>
            <a:ext cx="54864" cy="274320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2" name="Text 50"/>
          <p:cNvSpPr/>
          <p:nvPr/>
        </p:nvSpPr>
        <p:spPr>
          <a:xfrm>
            <a:off x="7086600" y="2359152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Popup personalizado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6949440" y="2852928"/>
            <a:ext cx="54864" cy="274320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4" name="Text 52"/>
          <p:cNvSpPr/>
          <p:nvPr/>
        </p:nvSpPr>
        <p:spPr>
          <a:xfrm>
            <a:off x="7086600" y="283464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Rojo = ALTO riesgo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6949440" y="3328416"/>
            <a:ext cx="54864" cy="274320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6" name="Text 54"/>
          <p:cNvSpPr/>
          <p:nvPr/>
        </p:nvSpPr>
        <p:spPr>
          <a:xfrm>
            <a:off x="7086600" y="3310128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Verde = BAJO riesgo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6949440" y="3803904"/>
            <a:ext cx="54864" cy="274320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8" name="Text 56"/>
          <p:cNvSpPr/>
          <p:nvPr/>
        </p:nvSpPr>
        <p:spPr>
          <a:xfrm>
            <a:off x="7086600" y="3785616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Recomendaciones médicas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6949440" y="4279392"/>
            <a:ext cx="54864" cy="274320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0" name="Text 58"/>
          <p:cNvSpPr/>
          <p:nvPr/>
        </p:nvSpPr>
        <p:spPr>
          <a:xfrm>
            <a:off x="7086600" y="4261104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al notificador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EEF3F8"/>
          </a:solidFill>
          <a:ln/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7A5B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Interfaz Gráfica &amp; Launcher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27432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B2E0E8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2743200" cy="54864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1353312" y="1156717"/>
            <a:ext cx="594360" cy="594360"/>
          </a:xfrm>
          <a:prstGeom prst="ellipse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Text 5"/>
          <p:cNvSpPr/>
          <p:nvPr/>
        </p:nvSpPr>
        <p:spPr>
          <a:xfrm>
            <a:off x="320040" y="17373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Launcher.java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02920" y="2304288"/>
            <a:ext cx="54864" cy="274320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Text 7"/>
          <p:cNvSpPr/>
          <p:nvPr/>
        </p:nvSpPr>
        <p:spPr>
          <a:xfrm>
            <a:off x="640080" y="228600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Arranca JADE en localhost:1099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02920" y="2807208"/>
            <a:ext cx="54864" cy="274320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2" name="Text 9"/>
          <p:cNvSpPr/>
          <p:nvPr/>
        </p:nvSpPr>
        <p:spPr>
          <a:xfrm>
            <a:off x="640080" y="278892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Lanza 2 nutricionistas en el DF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02920" y="3310128"/>
            <a:ext cx="54864" cy="274320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4" name="Text 11"/>
          <p:cNvSpPr/>
          <p:nvPr/>
        </p:nvSpPr>
        <p:spPr>
          <a:xfrm>
            <a:off x="640080" y="329184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Lanza 3 pacientes con delay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02920" y="3813048"/>
            <a:ext cx="54864" cy="274320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6" name="Text 13"/>
          <p:cNvSpPr/>
          <p:nvPr/>
        </p:nvSpPr>
        <p:spPr>
          <a:xfrm>
            <a:off x="640080" y="379476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paciente abre su ventana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02920" y="4315968"/>
            <a:ext cx="54864" cy="274320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8" name="Text 15"/>
          <p:cNvSpPr/>
          <p:nvPr/>
        </p:nvSpPr>
        <p:spPr>
          <a:xfrm>
            <a:off x="640080" y="429768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abrir ventana manualmente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3246120" y="1005840"/>
            <a:ext cx="27432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B2E0E8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0" name="Shape 17"/>
          <p:cNvSpPr/>
          <p:nvPr/>
        </p:nvSpPr>
        <p:spPr>
          <a:xfrm>
            <a:off x="3246120" y="1005840"/>
            <a:ext cx="2743200" cy="54864"/>
          </a:xfrm>
          <a:prstGeom prst="rect">
            <a:avLst/>
          </a:prstGeom>
          <a:solidFill>
            <a:srgbClr val="17A5B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1" name="Shape 18"/>
          <p:cNvSpPr/>
          <p:nvPr/>
        </p:nvSpPr>
        <p:spPr>
          <a:xfrm>
            <a:off x="4279392" y="1156717"/>
            <a:ext cx="594360" cy="594360"/>
          </a:xfrm>
          <a:prstGeom prst="ellipse">
            <a:avLst/>
          </a:prstGeom>
          <a:solidFill>
            <a:srgbClr val="17A5B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3" name="Text 19"/>
          <p:cNvSpPr/>
          <p:nvPr/>
        </p:nvSpPr>
        <p:spPr>
          <a:xfrm>
            <a:off x="3246120" y="17373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VentanaPaciente.java</a:t>
            </a:r>
            <a:endParaRPr lang="en-US" sz="1300" dirty="0"/>
          </a:p>
        </p:txBody>
      </p:sp>
      <p:sp>
        <p:nvSpPr>
          <p:cNvPr id="24" name="Shape 20"/>
          <p:cNvSpPr/>
          <p:nvPr/>
        </p:nvSpPr>
        <p:spPr>
          <a:xfrm>
            <a:off x="3429000" y="2304288"/>
            <a:ext cx="54864" cy="274320"/>
          </a:xfrm>
          <a:prstGeom prst="rect">
            <a:avLst/>
          </a:prstGeom>
          <a:solidFill>
            <a:srgbClr val="17A5B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5" name="Text 21"/>
          <p:cNvSpPr/>
          <p:nvPr/>
        </p:nvSpPr>
        <p:spPr>
          <a:xfrm>
            <a:off x="3566160" y="228600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Formulario Mañana/Tarde/Noche</a:t>
            </a:r>
            <a:endParaRPr lang="en-US" sz="1100" dirty="0"/>
          </a:p>
        </p:txBody>
      </p:sp>
      <p:sp>
        <p:nvSpPr>
          <p:cNvPr id="26" name="Shape 22"/>
          <p:cNvSpPr/>
          <p:nvPr/>
        </p:nvSpPr>
        <p:spPr>
          <a:xfrm>
            <a:off x="3429000" y="2807208"/>
            <a:ext cx="54864" cy="274320"/>
          </a:xfrm>
          <a:prstGeom prst="rect">
            <a:avLst/>
          </a:prstGeom>
          <a:solidFill>
            <a:srgbClr val="17A5B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7" name="Text 23"/>
          <p:cNvSpPr/>
          <p:nvPr/>
        </p:nvSpPr>
        <p:spPr>
          <a:xfrm>
            <a:off x="3566160" y="278892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campos con validación</a:t>
            </a:r>
            <a:endParaRPr lang="en-US" sz="1100" dirty="0"/>
          </a:p>
        </p:txBody>
      </p:sp>
      <p:sp>
        <p:nvSpPr>
          <p:cNvPr id="28" name="Shape 24"/>
          <p:cNvSpPr/>
          <p:nvPr/>
        </p:nvSpPr>
        <p:spPr>
          <a:xfrm>
            <a:off x="3429000" y="3310128"/>
            <a:ext cx="54864" cy="274320"/>
          </a:xfrm>
          <a:prstGeom prst="rect">
            <a:avLst/>
          </a:prstGeom>
          <a:solidFill>
            <a:srgbClr val="17A5B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9" name="Text 25"/>
          <p:cNvSpPr/>
          <p:nvPr/>
        </p:nvSpPr>
        <p:spPr>
          <a:xfrm>
            <a:off x="3566160" y="329184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lateral con guía clínica</a:t>
            </a:r>
            <a:endParaRPr lang="en-US" sz="1100" dirty="0"/>
          </a:p>
        </p:txBody>
      </p:sp>
      <p:sp>
        <p:nvSpPr>
          <p:cNvPr id="30" name="Shape 26"/>
          <p:cNvSpPr/>
          <p:nvPr/>
        </p:nvSpPr>
        <p:spPr>
          <a:xfrm>
            <a:off x="3429000" y="3813048"/>
            <a:ext cx="54864" cy="274320"/>
          </a:xfrm>
          <a:prstGeom prst="rect">
            <a:avLst/>
          </a:prstGeom>
          <a:solidFill>
            <a:srgbClr val="17A5B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1" name="Text 27"/>
          <p:cNvSpPr/>
          <p:nvPr/>
        </p:nvSpPr>
        <p:spPr>
          <a:xfrm>
            <a:off x="3566160" y="379476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Tooltips con rangos normales</a:t>
            </a:r>
            <a:endParaRPr lang="en-US" sz="1100" dirty="0"/>
          </a:p>
        </p:txBody>
      </p:sp>
      <p:sp>
        <p:nvSpPr>
          <p:cNvPr id="32" name="Shape 28"/>
          <p:cNvSpPr/>
          <p:nvPr/>
        </p:nvSpPr>
        <p:spPr>
          <a:xfrm>
            <a:off x="3429000" y="4315968"/>
            <a:ext cx="54864" cy="274320"/>
          </a:xfrm>
          <a:prstGeom prst="rect">
            <a:avLst/>
          </a:prstGeom>
          <a:solidFill>
            <a:srgbClr val="17A5B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3" name="Text 29"/>
          <p:cNvSpPr/>
          <p:nvPr/>
        </p:nvSpPr>
        <p:spPr>
          <a:xfrm>
            <a:off x="3566160" y="429768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Popup rojo/verde + recomendaciones</a:t>
            </a:r>
            <a:endParaRPr lang="en-US" sz="1100" dirty="0"/>
          </a:p>
        </p:txBody>
      </p:sp>
      <p:sp>
        <p:nvSpPr>
          <p:cNvPr id="34" name="Shape 30"/>
          <p:cNvSpPr/>
          <p:nvPr/>
        </p:nvSpPr>
        <p:spPr>
          <a:xfrm>
            <a:off x="6172200" y="1005840"/>
            <a:ext cx="27432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B2E0E8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5" name="Shape 31"/>
          <p:cNvSpPr/>
          <p:nvPr/>
        </p:nvSpPr>
        <p:spPr>
          <a:xfrm>
            <a:off x="6172200" y="1005840"/>
            <a:ext cx="2743200" cy="54864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6" name="Shape 32"/>
          <p:cNvSpPr/>
          <p:nvPr/>
        </p:nvSpPr>
        <p:spPr>
          <a:xfrm>
            <a:off x="7205472" y="1156717"/>
            <a:ext cx="594360" cy="594360"/>
          </a:xfrm>
          <a:prstGeom prst="ellipse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8" name="Text 33"/>
          <p:cNvSpPr/>
          <p:nvPr/>
        </p:nvSpPr>
        <p:spPr>
          <a:xfrm>
            <a:off x="6172200" y="17373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técnico</a:t>
            </a:r>
            <a:endParaRPr lang="en-US" sz="1300" dirty="0"/>
          </a:p>
        </p:txBody>
      </p:sp>
      <p:sp>
        <p:nvSpPr>
          <p:cNvPr id="39" name="Shape 34"/>
          <p:cNvSpPr/>
          <p:nvPr/>
        </p:nvSpPr>
        <p:spPr>
          <a:xfrm>
            <a:off x="6355080" y="2304288"/>
            <a:ext cx="54864" cy="274320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0" name="Text 35"/>
          <p:cNvSpPr/>
          <p:nvPr/>
        </p:nvSpPr>
        <p:spPr>
          <a:xfrm>
            <a:off x="6492240" y="228600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Java Swing nativo</a:t>
            </a:r>
            <a:endParaRPr lang="en-US" sz="1100" dirty="0"/>
          </a:p>
        </p:txBody>
      </p:sp>
      <p:sp>
        <p:nvSpPr>
          <p:cNvPr id="41" name="Shape 36"/>
          <p:cNvSpPr/>
          <p:nvPr/>
        </p:nvSpPr>
        <p:spPr>
          <a:xfrm>
            <a:off x="6355080" y="2807208"/>
            <a:ext cx="54864" cy="274320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2" name="Text 37"/>
          <p:cNvSpPr/>
          <p:nvPr/>
        </p:nvSpPr>
        <p:spPr>
          <a:xfrm>
            <a:off x="6492240" y="278892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Java2D para iconos y botones</a:t>
            </a:r>
            <a:endParaRPr lang="en-US" sz="1100" dirty="0"/>
          </a:p>
        </p:txBody>
      </p:sp>
      <p:sp>
        <p:nvSpPr>
          <p:cNvPr id="43" name="Shape 38"/>
          <p:cNvSpPr/>
          <p:nvPr/>
        </p:nvSpPr>
        <p:spPr>
          <a:xfrm>
            <a:off x="6355080" y="3310128"/>
            <a:ext cx="54864" cy="274320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4" name="Text 39"/>
          <p:cNvSpPr/>
          <p:nvPr/>
        </p:nvSpPr>
        <p:spPr>
          <a:xfrm>
            <a:off x="6492240" y="329184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Degradado azul → turquesa</a:t>
            </a:r>
            <a:endParaRPr lang="en-US" sz="1100" dirty="0"/>
          </a:p>
        </p:txBody>
      </p:sp>
      <p:sp>
        <p:nvSpPr>
          <p:cNvPr id="45" name="Shape 40"/>
          <p:cNvSpPr/>
          <p:nvPr/>
        </p:nvSpPr>
        <p:spPr>
          <a:xfrm>
            <a:off x="6355080" y="3813048"/>
            <a:ext cx="54864" cy="274320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6" name="Text 41"/>
          <p:cNvSpPr/>
          <p:nvPr/>
        </p:nvSpPr>
        <p:spPr>
          <a:xfrm>
            <a:off x="6492240" y="379476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 DiaPredict integrado</a:t>
            </a:r>
            <a:endParaRPr lang="en-US" sz="1100" dirty="0"/>
          </a:p>
        </p:txBody>
      </p:sp>
      <p:sp>
        <p:nvSpPr>
          <p:cNvPr id="47" name="Shape 42"/>
          <p:cNvSpPr/>
          <p:nvPr/>
        </p:nvSpPr>
        <p:spPr>
          <a:xfrm>
            <a:off x="6355080" y="4315968"/>
            <a:ext cx="54864" cy="274320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8" name="Text 43"/>
          <p:cNvSpPr/>
          <p:nvPr/>
        </p:nvSpPr>
        <p:spPr>
          <a:xfrm>
            <a:off x="6492240" y="4297680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Scroll + concurrencia segura</a:t>
            </a:r>
            <a:endParaRPr lang="en-US" sz="1100" dirty="0"/>
          </a:p>
        </p:txBody>
      </p:sp>
      <p:pic>
        <p:nvPicPr>
          <p:cNvPr id="49" name="Imagen 48">
            <a:extLst>
              <a:ext uri="{FF2B5EF4-FFF2-40B4-BE49-F238E27FC236}">
                <a16:creationId xmlns:a16="http://schemas.microsoft.com/office/drawing/2014/main" id="{A4A1A125-66B7-D4A5-960D-7845FEF3AA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307206">
            <a:off x="1373917" y="1159033"/>
            <a:ext cx="553150" cy="553150"/>
          </a:xfrm>
          <a:prstGeom prst="rect">
            <a:avLst/>
          </a:prstGeom>
        </p:spPr>
      </p:pic>
      <p:pic>
        <p:nvPicPr>
          <p:cNvPr id="51" name="Imagen 50">
            <a:extLst>
              <a:ext uri="{FF2B5EF4-FFF2-40B4-BE49-F238E27FC236}">
                <a16:creationId xmlns:a16="http://schemas.microsoft.com/office/drawing/2014/main" id="{BE6EA20F-ED21-C2C7-10CC-95CD29BAC5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0" y="1271016"/>
            <a:ext cx="365760" cy="365760"/>
          </a:xfrm>
          <a:prstGeom prst="rect">
            <a:avLst/>
          </a:prstGeom>
        </p:spPr>
      </p:pic>
      <p:pic>
        <p:nvPicPr>
          <p:cNvPr id="61" name="Imagen 60">
            <a:extLst>
              <a:ext uri="{FF2B5EF4-FFF2-40B4-BE49-F238E27FC236}">
                <a16:creationId xmlns:a16="http://schemas.microsoft.com/office/drawing/2014/main" id="{633498FB-414C-9994-40AE-57E34C3B6E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03208" y="1263597"/>
            <a:ext cx="396040" cy="3960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7A5B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Inteligencia Artificial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GestorWeka.java · Algoritmo J48 · 6 tomas de glucosa diarias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2011680" cy="1920240"/>
          </a:xfrm>
          <a:prstGeom prst="rect">
            <a:avLst/>
          </a:prstGeom>
          <a:solidFill>
            <a:srgbClr val="1A5276"/>
          </a:solidFill>
          <a:ln/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320040" y="1261872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320040" y="17830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diabetes.arff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" y="228600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C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con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CC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historial clínico</a:t>
            </a:r>
            <a:endParaRPr lang="en-US" sz="105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0008" y="1920240"/>
            <a:ext cx="118872" cy="201168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2468880" y="1234440"/>
            <a:ext cx="2011680" cy="1920240"/>
          </a:xfrm>
          <a:prstGeom prst="rect">
            <a:avLst/>
          </a:prstGeom>
          <a:solidFill>
            <a:srgbClr val="17A5B8"/>
          </a:solidFill>
          <a:ln/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Text 8"/>
          <p:cNvSpPr/>
          <p:nvPr/>
        </p:nvSpPr>
        <p:spPr>
          <a:xfrm>
            <a:off x="2468880" y="1261872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12" name="Text 9"/>
          <p:cNvSpPr/>
          <p:nvPr/>
        </p:nvSpPr>
        <p:spPr>
          <a:xfrm>
            <a:off x="2468880" y="17830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 err="1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Preprocesamiento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 de </a:t>
            </a:r>
            <a:r>
              <a:rPr lang="en-US" sz="1300" b="1" dirty="0" err="1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datos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2468880" y="228600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C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 atributo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CC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 (String)</a:t>
            </a:r>
            <a:endParaRPr lang="en-US" sz="105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8848" y="1920240"/>
            <a:ext cx="118872" cy="201168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4617720" y="1234440"/>
            <a:ext cx="2011680" cy="1920240"/>
          </a:xfrm>
          <a:prstGeom prst="rect">
            <a:avLst/>
          </a:prstGeom>
          <a:solidFill>
            <a:srgbClr val="1A5276"/>
          </a:solidFill>
          <a:ln/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6" name="Text 12"/>
          <p:cNvSpPr/>
          <p:nvPr/>
        </p:nvSpPr>
        <p:spPr>
          <a:xfrm>
            <a:off x="4617720" y="1261872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17" name="Text 13"/>
          <p:cNvSpPr/>
          <p:nvPr/>
        </p:nvSpPr>
        <p:spPr>
          <a:xfrm>
            <a:off x="4617720" y="17830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J48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4617720" y="228600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C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Árbol de decisión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CC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entrenado al inicio</a:t>
            </a:r>
            <a:endParaRPr lang="en-US" sz="1050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7688" y="1920240"/>
            <a:ext cx="118872" cy="201168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6766560" y="1234440"/>
            <a:ext cx="2011680" cy="1920240"/>
          </a:xfrm>
          <a:prstGeom prst="rect">
            <a:avLst/>
          </a:prstGeom>
          <a:solidFill>
            <a:srgbClr val="17A5B8"/>
          </a:solidFill>
          <a:ln/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1" name="Text 16"/>
          <p:cNvSpPr/>
          <p:nvPr/>
        </p:nvSpPr>
        <p:spPr>
          <a:xfrm>
            <a:off x="6766560" y="1261872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22" name="Text 17"/>
          <p:cNvSpPr/>
          <p:nvPr/>
        </p:nvSpPr>
        <p:spPr>
          <a:xfrm>
            <a:off x="6766560" y="17830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predecirRiesgo()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6766560" y="228600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C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parámetros: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CC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edad + 6 glucosas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320040" y="3337560"/>
            <a:ext cx="5029200" cy="365760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5" name="Text 20"/>
          <p:cNvSpPr/>
          <p:nvPr/>
        </p:nvSpPr>
        <p:spPr>
          <a:xfrm>
            <a:off x="320040" y="336499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Rangos de referencia ADA (Asociación Americana de Diabetes)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320040" y="3703320"/>
            <a:ext cx="1257300" cy="384048"/>
          </a:xfrm>
          <a:prstGeom prst="rect">
            <a:avLst/>
          </a:prstGeom>
          <a:solidFill>
            <a:srgbClr val="EEF3F8"/>
          </a:solidFill>
          <a:ln w="6350">
            <a:solidFill>
              <a:srgbClr val="B2E0E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Text 22"/>
          <p:cNvSpPr/>
          <p:nvPr/>
        </p:nvSpPr>
        <p:spPr>
          <a:xfrm>
            <a:off x="320040" y="3730752"/>
            <a:ext cx="12573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Medición</a:t>
            </a:r>
            <a:endParaRPr lang="en-US" sz="1000" dirty="0"/>
          </a:p>
        </p:txBody>
      </p:sp>
      <p:sp>
        <p:nvSpPr>
          <p:cNvPr id="28" name="Shape 23"/>
          <p:cNvSpPr/>
          <p:nvPr/>
        </p:nvSpPr>
        <p:spPr>
          <a:xfrm>
            <a:off x="1577340" y="3703320"/>
            <a:ext cx="1257300" cy="384048"/>
          </a:xfrm>
          <a:prstGeom prst="rect">
            <a:avLst/>
          </a:prstGeom>
          <a:solidFill>
            <a:srgbClr val="EEF3F8"/>
          </a:solidFill>
          <a:ln w="6350">
            <a:solidFill>
              <a:srgbClr val="B2E0E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9" name="Text 24"/>
          <p:cNvSpPr/>
          <p:nvPr/>
        </p:nvSpPr>
        <p:spPr>
          <a:xfrm>
            <a:off x="1577340" y="3730752"/>
            <a:ext cx="12573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1000" dirty="0"/>
          </a:p>
        </p:txBody>
      </p:sp>
      <p:sp>
        <p:nvSpPr>
          <p:cNvPr id="30" name="Shape 25"/>
          <p:cNvSpPr/>
          <p:nvPr/>
        </p:nvSpPr>
        <p:spPr>
          <a:xfrm>
            <a:off x="2834640" y="3703320"/>
            <a:ext cx="1257300" cy="384048"/>
          </a:xfrm>
          <a:prstGeom prst="rect">
            <a:avLst/>
          </a:prstGeom>
          <a:solidFill>
            <a:srgbClr val="EEF3F8"/>
          </a:solidFill>
          <a:ln w="6350">
            <a:solidFill>
              <a:srgbClr val="B2E0E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1" name="Text 26"/>
          <p:cNvSpPr/>
          <p:nvPr/>
        </p:nvSpPr>
        <p:spPr>
          <a:xfrm>
            <a:off x="2834640" y="3730752"/>
            <a:ext cx="12573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Prediabetes</a:t>
            </a:r>
            <a:endParaRPr lang="en-US" sz="1000" dirty="0"/>
          </a:p>
        </p:txBody>
      </p:sp>
      <p:sp>
        <p:nvSpPr>
          <p:cNvPr id="32" name="Shape 27"/>
          <p:cNvSpPr/>
          <p:nvPr/>
        </p:nvSpPr>
        <p:spPr>
          <a:xfrm>
            <a:off x="4091940" y="3703320"/>
            <a:ext cx="1257300" cy="384048"/>
          </a:xfrm>
          <a:prstGeom prst="rect">
            <a:avLst/>
          </a:prstGeom>
          <a:solidFill>
            <a:srgbClr val="EEF3F8"/>
          </a:solidFill>
          <a:ln w="6350">
            <a:solidFill>
              <a:srgbClr val="B2E0E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3" name="Text 28"/>
          <p:cNvSpPr/>
          <p:nvPr/>
        </p:nvSpPr>
        <p:spPr>
          <a:xfrm>
            <a:off x="4091940" y="3730752"/>
            <a:ext cx="12573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</a:t>
            </a:r>
            <a:endParaRPr lang="en-US" sz="1000" dirty="0"/>
          </a:p>
        </p:txBody>
      </p:sp>
      <p:sp>
        <p:nvSpPr>
          <p:cNvPr id="34" name="Shape 29"/>
          <p:cNvSpPr/>
          <p:nvPr/>
        </p:nvSpPr>
        <p:spPr>
          <a:xfrm>
            <a:off x="320040" y="4087368"/>
            <a:ext cx="1257300" cy="384048"/>
          </a:xfrm>
          <a:prstGeom prst="rect">
            <a:avLst/>
          </a:prstGeom>
          <a:solidFill>
            <a:srgbClr val="F4F8FA"/>
          </a:solidFill>
          <a:ln w="6350">
            <a:solidFill>
              <a:srgbClr val="B2E0E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5" name="Text 30"/>
          <p:cNvSpPr/>
          <p:nvPr/>
        </p:nvSpPr>
        <p:spPr>
          <a:xfrm>
            <a:off x="320040" y="4114800"/>
            <a:ext cx="12573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3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Ayunas</a:t>
            </a:r>
            <a:endParaRPr lang="en-US" sz="1000" dirty="0"/>
          </a:p>
        </p:txBody>
      </p:sp>
      <p:sp>
        <p:nvSpPr>
          <p:cNvPr id="36" name="Shape 31"/>
          <p:cNvSpPr/>
          <p:nvPr/>
        </p:nvSpPr>
        <p:spPr>
          <a:xfrm>
            <a:off x="1577340" y="4087368"/>
            <a:ext cx="1257300" cy="384048"/>
          </a:xfrm>
          <a:prstGeom prst="rect">
            <a:avLst/>
          </a:prstGeom>
          <a:solidFill>
            <a:srgbClr val="F4F8FA"/>
          </a:solidFill>
          <a:ln w="6350">
            <a:solidFill>
              <a:srgbClr val="B2E0E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7" name="Text 32"/>
          <p:cNvSpPr/>
          <p:nvPr/>
        </p:nvSpPr>
        <p:spPr>
          <a:xfrm>
            <a:off x="1577340" y="4114800"/>
            <a:ext cx="12573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3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100 mg/dL</a:t>
            </a:r>
            <a:endParaRPr lang="en-US" sz="1000" dirty="0"/>
          </a:p>
        </p:txBody>
      </p:sp>
      <p:sp>
        <p:nvSpPr>
          <p:cNvPr id="38" name="Shape 33"/>
          <p:cNvSpPr/>
          <p:nvPr/>
        </p:nvSpPr>
        <p:spPr>
          <a:xfrm>
            <a:off x="2834640" y="4087368"/>
            <a:ext cx="1257300" cy="384048"/>
          </a:xfrm>
          <a:prstGeom prst="rect">
            <a:avLst/>
          </a:prstGeom>
          <a:solidFill>
            <a:srgbClr val="F4F8FA"/>
          </a:solidFill>
          <a:ln w="6350">
            <a:solidFill>
              <a:srgbClr val="B2E0E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9" name="Text 34"/>
          <p:cNvSpPr/>
          <p:nvPr/>
        </p:nvSpPr>
        <p:spPr>
          <a:xfrm>
            <a:off x="2834640" y="4114800"/>
            <a:ext cx="12573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100-125 mg/dL</a:t>
            </a:r>
            <a:endParaRPr lang="en-US" sz="1000" dirty="0"/>
          </a:p>
        </p:txBody>
      </p:sp>
      <p:sp>
        <p:nvSpPr>
          <p:cNvPr id="40" name="Shape 35"/>
          <p:cNvSpPr/>
          <p:nvPr/>
        </p:nvSpPr>
        <p:spPr>
          <a:xfrm>
            <a:off x="4091940" y="4087368"/>
            <a:ext cx="1257300" cy="384048"/>
          </a:xfrm>
          <a:prstGeom prst="rect">
            <a:avLst/>
          </a:prstGeom>
          <a:solidFill>
            <a:srgbClr val="F4F8FA"/>
          </a:solidFill>
          <a:ln w="6350">
            <a:solidFill>
              <a:srgbClr val="B2E0E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1" name="Text 36"/>
          <p:cNvSpPr/>
          <p:nvPr/>
        </p:nvSpPr>
        <p:spPr>
          <a:xfrm>
            <a:off x="4091940" y="4114800"/>
            <a:ext cx="12573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126 mg/dL</a:t>
            </a:r>
            <a:endParaRPr lang="en-US" sz="1000" dirty="0"/>
          </a:p>
        </p:txBody>
      </p:sp>
      <p:sp>
        <p:nvSpPr>
          <p:cNvPr id="42" name="Shape 37"/>
          <p:cNvSpPr/>
          <p:nvPr/>
        </p:nvSpPr>
        <p:spPr>
          <a:xfrm>
            <a:off x="320040" y="4471416"/>
            <a:ext cx="12573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B2E0E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3" name="Text 38"/>
          <p:cNvSpPr/>
          <p:nvPr/>
        </p:nvSpPr>
        <p:spPr>
          <a:xfrm>
            <a:off x="320040" y="4498848"/>
            <a:ext cx="12573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3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2h post-comida</a:t>
            </a:r>
            <a:endParaRPr lang="en-US" sz="1000" dirty="0"/>
          </a:p>
        </p:txBody>
      </p:sp>
      <p:sp>
        <p:nvSpPr>
          <p:cNvPr id="44" name="Shape 39"/>
          <p:cNvSpPr/>
          <p:nvPr/>
        </p:nvSpPr>
        <p:spPr>
          <a:xfrm>
            <a:off x="1577340" y="4471416"/>
            <a:ext cx="12573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B2E0E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5" name="Text 40"/>
          <p:cNvSpPr/>
          <p:nvPr/>
        </p:nvSpPr>
        <p:spPr>
          <a:xfrm>
            <a:off x="1577340" y="4498848"/>
            <a:ext cx="12573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32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140 mg/dL</a:t>
            </a:r>
            <a:endParaRPr lang="en-US" sz="1000" dirty="0"/>
          </a:p>
        </p:txBody>
      </p:sp>
      <p:sp>
        <p:nvSpPr>
          <p:cNvPr id="46" name="Shape 41"/>
          <p:cNvSpPr/>
          <p:nvPr/>
        </p:nvSpPr>
        <p:spPr>
          <a:xfrm>
            <a:off x="2834640" y="4471416"/>
            <a:ext cx="12573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B2E0E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7" name="Text 42"/>
          <p:cNvSpPr/>
          <p:nvPr/>
        </p:nvSpPr>
        <p:spPr>
          <a:xfrm>
            <a:off x="2834640" y="4498848"/>
            <a:ext cx="12573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140-199 mg/dL</a:t>
            </a:r>
            <a:endParaRPr lang="en-US" sz="1000" dirty="0"/>
          </a:p>
        </p:txBody>
      </p:sp>
      <p:sp>
        <p:nvSpPr>
          <p:cNvPr id="48" name="Shape 43"/>
          <p:cNvSpPr/>
          <p:nvPr/>
        </p:nvSpPr>
        <p:spPr>
          <a:xfrm>
            <a:off x="4091940" y="4471416"/>
            <a:ext cx="12573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B2E0E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9" name="Text 44"/>
          <p:cNvSpPr/>
          <p:nvPr/>
        </p:nvSpPr>
        <p:spPr>
          <a:xfrm>
            <a:off x="4091940" y="4498848"/>
            <a:ext cx="12573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200 mg/dL</a:t>
            </a:r>
            <a:endParaRPr lang="en-US" sz="1000" dirty="0"/>
          </a:p>
        </p:txBody>
      </p:sp>
      <p:sp>
        <p:nvSpPr>
          <p:cNvPr id="50" name="Shape 45"/>
          <p:cNvSpPr/>
          <p:nvPr/>
        </p:nvSpPr>
        <p:spPr>
          <a:xfrm>
            <a:off x="5577840" y="3337560"/>
            <a:ext cx="3246120" cy="1508760"/>
          </a:xfrm>
          <a:prstGeom prst="rect">
            <a:avLst/>
          </a:prstGeom>
          <a:solidFill>
            <a:srgbClr val="EEF3F8"/>
          </a:solidFill>
          <a:ln w="12700">
            <a:solidFill>
              <a:srgbClr val="B2E0E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1" name="Text 46"/>
          <p:cNvSpPr/>
          <p:nvPr/>
        </p:nvSpPr>
        <p:spPr>
          <a:xfrm>
            <a:off x="5669280" y="340156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J48?</a:t>
            </a:r>
            <a:endParaRPr lang="en-US" sz="1300" dirty="0"/>
          </a:p>
        </p:txBody>
      </p:sp>
      <p:sp>
        <p:nvSpPr>
          <p:cNvPr id="52" name="Shape 47"/>
          <p:cNvSpPr/>
          <p:nvPr/>
        </p:nvSpPr>
        <p:spPr>
          <a:xfrm>
            <a:off x="5669280" y="3840480"/>
            <a:ext cx="137160" cy="137160"/>
          </a:xfrm>
          <a:prstGeom prst="ellipse">
            <a:avLst/>
          </a:prstGeom>
          <a:solidFill>
            <a:srgbClr val="17A5B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3" name="Text 48"/>
          <p:cNvSpPr/>
          <p:nvPr/>
        </p:nvSpPr>
        <p:spPr>
          <a:xfrm>
            <a:off x="5870448" y="3813048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Interpretable para uso médico</a:t>
            </a:r>
            <a:endParaRPr lang="en-US" sz="1050" dirty="0"/>
          </a:p>
        </p:txBody>
      </p:sp>
      <p:sp>
        <p:nvSpPr>
          <p:cNvPr id="54" name="Shape 49"/>
          <p:cNvSpPr/>
          <p:nvPr/>
        </p:nvSpPr>
        <p:spPr>
          <a:xfrm>
            <a:off x="5669280" y="4087368"/>
            <a:ext cx="137160" cy="137160"/>
          </a:xfrm>
          <a:prstGeom prst="ellipse">
            <a:avLst/>
          </a:prstGeom>
          <a:solidFill>
            <a:srgbClr val="17A5B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5" name="Text 50"/>
          <p:cNvSpPr/>
          <p:nvPr/>
        </p:nvSpPr>
        <p:spPr>
          <a:xfrm>
            <a:off x="5870448" y="4059936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Robusto con datasets pequeños</a:t>
            </a:r>
            <a:endParaRPr lang="en-US" sz="1050" dirty="0"/>
          </a:p>
        </p:txBody>
      </p:sp>
      <p:sp>
        <p:nvSpPr>
          <p:cNvPr id="56" name="Shape 51"/>
          <p:cNvSpPr/>
          <p:nvPr/>
        </p:nvSpPr>
        <p:spPr>
          <a:xfrm>
            <a:off x="5669280" y="4334256"/>
            <a:ext cx="137160" cy="137160"/>
          </a:xfrm>
          <a:prstGeom prst="ellipse">
            <a:avLst/>
          </a:prstGeom>
          <a:solidFill>
            <a:srgbClr val="17A5B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7" name="Text 52"/>
          <p:cNvSpPr/>
          <p:nvPr/>
        </p:nvSpPr>
        <p:spPr>
          <a:xfrm>
            <a:off x="5870448" y="4306824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explicables</a:t>
            </a:r>
            <a:endParaRPr lang="en-US" sz="1050" dirty="0"/>
          </a:p>
        </p:txBody>
      </p:sp>
      <p:sp>
        <p:nvSpPr>
          <p:cNvPr id="58" name="Shape 53"/>
          <p:cNvSpPr/>
          <p:nvPr/>
        </p:nvSpPr>
        <p:spPr>
          <a:xfrm>
            <a:off x="5669280" y="4581144"/>
            <a:ext cx="137160" cy="137160"/>
          </a:xfrm>
          <a:prstGeom prst="ellipse">
            <a:avLst/>
          </a:prstGeom>
          <a:solidFill>
            <a:srgbClr val="17A5B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9" name="Text 54"/>
          <p:cNvSpPr/>
          <p:nvPr/>
        </p:nvSpPr>
        <p:spPr>
          <a:xfrm>
            <a:off x="5870448" y="4553712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nativa con Weka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E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7A5B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Concurrencia Real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298448"/>
            <a:ext cx="84124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17A5B8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365760" y="1298448"/>
            <a:ext cx="54864" cy="685800"/>
          </a:xfrm>
          <a:prstGeom prst="rect">
            <a:avLst/>
          </a:prstGeom>
          <a:solidFill>
            <a:srgbClr val="17A5B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" name="Shape 7"/>
          <p:cNvSpPr/>
          <p:nvPr/>
        </p:nvSpPr>
        <p:spPr>
          <a:xfrm>
            <a:off x="320040" y="2423160"/>
            <a:ext cx="2743200" cy="242316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2700">
            <a:solidFill>
              <a:srgbClr val="B2E0E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320040" y="2432304"/>
            <a:ext cx="2743200" cy="54864"/>
          </a:xfrm>
          <a:prstGeom prst="rect">
            <a:avLst/>
          </a:prstGeom>
          <a:solidFill>
            <a:srgbClr val="17A5B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320040" y="2459736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>
              <a:solidFill>
                <a:srgbClr val="002060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320040" y="2907792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Asignación aleatoria del DF</a:t>
            </a:r>
            <a:endParaRPr lang="en-US" sz="1400" dirty="0">
              <a:solidFill>
                <a:srgbClr val="002060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457200" y="3401568"/>
            <a:ext cx="24688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52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buscarAgentesServicio() elige un nutricionista al azar: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A52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idx = (int)(Math.random() * resultNutri.length);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A52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agenteNutricionistaAID = resultNutri[idx].getName();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46120" y="2423160"/>
            <a:ext cx="2743200" cy="242316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2700">
            <a:solidFill>
              <a:srgbClr val="B2E0E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Shape 13"/>
          <p:cNvSpPr/>
          <p:nvPr/>
        </p:nvSpPr>
        <p:spPr>
          <a:xfrm>
            <a:off x="3246120" y="2432304"/>
            <a:ext cx="2743200" cy="54864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3246120" y="2459736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>
              <a:solidFill>
                <a:srgbClr val="002060"/>
              </a:solidFill>
            </a:endParaRPr>
          </a:p>
        </p:txBody>
      </p:sp>
      <p:sp>
        <p:nvSpPr>
          <p:cNvPr id="17" name="Text 15"/>
          <p:cNvSpPr/>
          <p:nvPr/>
        </p:nvSpPr>
        <p:spPr>
          <a:xfrm>
            <a:off x="3246120" y="2907792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Arranque escalonado</a:t>
            </a:r>
            <a:endParaRPr lang="en-US" sz="1400" dirty="0">
              <a:solidFill>
                <a:srgbClr val="002060"/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3383280" y="3401568"/>
            <a:ext cx="24688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52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Launcher lanza primero nutricionistas, luego pacientes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A52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 Thread.sleep(500) entre grupos para garantizar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A52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 el DF tiene agentes registrados antes de buscarlos.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172200" y="2423160"/>
            <a:ext cx="2743200" cy="242316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2700">
            <a:solidFill>
              <a:srgbClr val="B2E0E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Shape 18"/>
          <p:cNvSpPr/>
          <p:nvPr/>
        </p:nvSpPr>
        <p:spPr>
          <a:xfrm>
            <a:off x="6172200" y="2432304"/>
            <a:ext cx="2743200" cy="54864"/>
          </a:xfrm>
          <a:prstGeom prst="rect">
            <a:avLst/>
          </a:prstGeom>
          <a:solidFill>
            <a:srgbClr val="17A5B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1" name="Text 19"/>
          <p:cNvSpPr/>
          <p:nvPr/>
        </p:nvSpPr>
        <p:spPr>
          <a:xfrm>
            <a:off x="6172200" y="2459736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>
              <a:solidFill>
                <a:srgbClr val="002060"/>
              </a:solidFill>
            </a:endParaRPr>
          </a:p>
        </p:txBody>
      </p:sp>
      <p:sp>
        <p:nvSpPr>
          <p:cNvPr id="22" name="Text 20"/>
          <p:cNvSpPr/>
          <p:nvPr/>
        </p:nvSpPr>
        <p:spPr>
          <a:xfrm>
            <a:off x="6172200" y="2907792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Ventanas independientes</a:t>
            </a:r>
            <a:endParaRPr lang="en-US" sz="1400" dirty="0">
              <a:solidFill>
                <a:srgbClr val="002060"/>
              </a:solidFill>
            </a:endParaRPr>
          </a:p>
        </p:txBody>
      </p:sp>
      <p:sp>
        <p:nvSpPr>
          <p:cNvPr id="23" name="Text 21"/>
          <p:cNvSpPr/>
          <p:nvPr/>
        </p:nvSpPr>
        <p:spPr>
          <a:xfrm>
            <a:off x="6309360" y="3401568"/>
            <a:ext cx="24688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52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Cada AgentePaciente abre su propia VentanaPaciente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A52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desde su setup() con título único: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A52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"DiaPredict - AgentePaciente1/2/3"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1467612"/>
            <a:ext cx="8412479" cy="34747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b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Múltiples </a:t>
            </a:r>
            <a:r>
              <a:rPr lang="en-US" b="1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pacientes</a:t>
            </a:r>
            <a:r>
              <a:rPr lang="en-US" b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se </a:t>
            </a:r>
            <a:r>
              <a:rPr lang="en-US" b="1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comunican</a:t>
            </a:r>
            <a:r>
              <a:rPr lang="en-US" b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con </a:t>
            </a:r>
            <a:r>
              <a:rPr lang="en-US" b="1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distintos</a:t>
            </a:r>
            <a:r>
              <a:rPr lang="en-US" b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b="1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nutricionistas</a:t>
            </a:r>
            <a:r>
              <a:rPr lang="en-US" b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 al </a:t>
            </a:r>
            <a:r>
              <a:rPr lang="en-US" b="1" err="1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tiempo</a:t>
            </a:r>
            <a:endParaRPr lang="en-US" b="1">
              <a:solidFill>
                <a:srgbClr val="002060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E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7A5B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Cumplimiento de Requisitos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8503920" cy="5029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54864" cy="502920"/>
          </a:xfrm>
          <a:prstGeom prst="rect">
            <a:avLst/>
          </a:prstGeom>
          <a:solidFill>
            <a:srgbClr val="17A5B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438912" y="1069848"/>
            <a:ext cx="274320" cy="274320"/>
          </a:xfrm>
          <a:prstGeom prst="ellipse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804672" y="10515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de percepción/adquisición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01568" y="1078992"/>
            <a:ext cx="36576" cy="256032"/>
          </a:xfrm>
          <a:prstGeom prst="rect">
            <a:avLst/>
          </a:prstGeom>
          <a:solidFill>
            <a:srgbClr val="B2E0E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3520440" y="105156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AgentePaciente captura 11 variables clínicas via GUI Swing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589520" y="1033272"/>
            <a:ext cx="1097280" cy="34747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6350">
            <a:solidFill>
              <a:srgbClr val="17A5B8"/>
            </a:solidFill>
            <a:prstDash val="solid"/>
          </a:ln>
        </p:spPr>
        <p:txBody>
          <a:bodyPr/>
          <a:lstStyle/>
          <a:p>
            <a:endParaRPr lang="es-ES">
              <a:solidFill>
                <a:srgbClr val="002060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7589520" y="1051560"/>
            <a:ext cx="1097280" cy="32004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instancias en paralelo</a:t>
            </a:r>
            <a:endParaRPr lang="en-US" sz="850" dirty="0">
              <a:solidFill>
                <a:srgbClr val="002060"/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20040" y="1527048"/>
            <a:ext cx="8503920" cy="502920"/>
          </a:xfrm>
          <a:prstGeom prst="rect">
            <a:avLst/>
          </a:prstGeom>
          <a:solidFill>
            <a:srgbClr val="F4F8FA"/>
          </a:solidFill>
          <a:ln/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3" name="Shape 11"/>
          <p:cNvSpPr/>
          <p:nvPr/>
        </p:nvSpPr>
        <p:spPr>
          <a:xfrm>
            <a:off x="320040" y="1527048"/>
            <a:ext cx="54864" cy="502920"/>
          </a:xfrm>
          <a:prstGeom prst="rect">
            <a:avLst/>
          </a:prstGeom>
          <a:solidFill>
            <a:srgbClr val="17A5B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4" name="Shape 12"/>
          <p:cNvSpPr/>
          <p:nvPr/>
        </p:nvSpPr>
        <p:spPr>
          <a:xfrm>
            <a:off x="438912" y="1636776"/>
            <a:ext cx="274320" cy="274320"/>
          </a:xfrm>
          <a:prstGeom prst="ellipse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804672" y="161848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Procesamiento inteligente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01568" y="1645920"/>
            <a:ext cx="36576" cy="256032"/>
          </a:xfrm>
          <a:prstGeom prst="rect">
            <a:avLst/>
          </a:prstGeom>
          <a:solidFill>
            <a:srgbClr val="B2E0E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3520440" y="1618488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AgentePredictor aplica Weka J48 con 6 tomas de glucosa diarias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589520" y="1600200"/>
            <a:ext cx="1097280" cy="34747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6350">
            <a:solidFill>
              <a:srgbClr val="17A5B8"/>
            </a:solidFill>
            <a:prstDash val="solid"/>
          </a:ln>
        </p:spPr>
        <p:txBody>
          <a:bodyPr/>
          <a:lstStyle/>
          <a:p>
            <a:endParaRPr lang="es-ES">
              <a:solidFill>
                <a:srgbClr val="002060"/>
              </a:solidFill>
            </a:endParaRPr>
          </a:p>
        </p:txBody>
      </p:sp>
      <p:sp>
        <p:nvSpPr>
          <p:cNvPr id="19" name="Text 17"/>
          <p:cNvSpPr/>
          <p:nvPr/>
        </p:nvSpPr>
        <p:spPr>
          <a:xfrm>
            <a:off x="7589520" y="1618488"/>
            <a:ext cx="1097280" cy="32004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Rangos ADA</a:t>
            </a:r>
            <a:endParaRPr lang="en-US" sz="850" dirty="0">
              <a:solidFill>
                <a:srgbClr val="002060"/>
              </a:solidFill>
            </a:endParaRPr>
          </a:p>
        </p:txBody>
      </p:sp>
      <p:sp>
        <p:nvSpPr>
          <p:cNvPr id="20" name="Shape 18"/>
          <p:cNvSpPr/>
          <p:nvPr/>
        </p:nvSpPr>
        <p:spPr>
          <a:xfrm>
            <a:off x="320040" y="2093976"/>
            <a:ext cx="8503920" cy="5029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1" name="Shape 19"/>
          <p:cNvSpPr/>
          <p:nvPr/>
        </p:nvSpPr>
        <p:spPr>
          <a:xfrm>
            <a:off x="320040" y="2093976"/>
            <a:ext cx="54864" cy="502920"/>
          </a:xfrm>
          <a:prstGeom prst="rect">
            <a:avLst/>
          </a:prstGeom>
          <a:solidFill>
            <a:srgbClr val="17A5B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2" name="Shape 20"/>
          <p:cNvSpPr/>
          <p:nvPr/>
        </p:nvSpPr>
        <p:spPr>
          <a:xfrm>
            <a:off x="438912" y="2203704"/>
            <a:ext cx="274320" cy="274320"/>
          </a:xfrm>
          <a:prstGeom prst="ellipse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3" name="Text 21"/>
          <p:cNvSpPr/>
          <p:nvPr/>
        </p:nvSpPr>
        <p:spPr>
          <a:xfrm>
            <a:off x="804672" y="2185416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Interfaz de usuario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401568" y="2212848"/>
            <a:ext cx="36576" cy="256032"/>
          </a:xfrm>
          <a:prstGeom prst="rect">
            <a:avLst/>
          </a:prstGeom>
          <a:solidFill>
            <a:srgbClr val="B2E0E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5" name="Text 23"/>
          <p:cNvSpPr/>
          <p:nvPr/>
        </p:nvSpPr>
        <p:spPr>
          <a:xfrm>
            <a:off x="3520440" y="2185416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VentanaPaciente: formulario Mañana/Tarde/Noche + popup rojo/verde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589520" y="2167128"/>
            <a:ext cx="1097280" cy="34747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6350">
            <a:solidFill>
              <a:srgbClr val="17A5B8"/>
            </a:solidFill>
            <a:prstDash val="solid"/>
          </a:ln>
        </p:spPr>
        <p:txBody>
          <a:bodyPr/>
          <a:lstStyle/>
          <a:p>
            <a:endParaRPr lang="es-ES">
              <a:solidFill>
                <a:srgbClr val="002060"/>
              </a:solidFill>
            </a:endParaRPr>
          </a:p>
        </p:txBody>
      </p:sp>
      <p:sp>
        <p:nvSpPr>
          <p:cNvPr id="27" name="Text 25"/>
          <p:cNvSpPr/>
          <p:nvPr/>
        </p:nvSpPr>
        <p:spPr>
          <a:xfrm>
            <a:off x="7589520" y="2185416"/>
            <a:ext cx="1097280" cy="32004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guía + tooltips</a:t>
            </a:r>
            <a:endParaRPr lang="en-US" sz="850" dirty="0">
              <a:solidFill>
                <a:srgbClr val="002060"/>
              </a:solidFill>
            </a:endParaRPr>
          </a:p>
        </p:txBody>
      </p:sp>
      <p:sp>
        <p:nvSpPr>
          <p:cNvPr id="28" name="Shape 26"/>
          <p:cNvSpPr/>
          <p:nvPr/>
        </p:nvSpPr>
        <p:spPr>
          <a:xfrm>
            <a:off x="320040" y="2660904"/>
            <a:ext cx="8503920" cy="502920"/>
          </a:xfrm>
          <a:prstGeom prst="rect">
            <a:avLst/>
          </a:prstGeom>
          <a:solidFill>
            <a:srgbClr val="F4F8FA"/>
          </a:solidFill>
          <a:ln/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9" name="Shape 27"/>
          <p:cNvSpPr/>
          <p:nvPr/>
        </p:nvSpPr>
        <p:spPr>
          <a:xfrm>
            <a:off x="320040" y="2660904"/>
            <a:ext cx="54864" cy="502920"/>
          </a:xfrm>
          <a:prstGeom prst="rect">
            <a:avLst/>
          </a:prstGeom>
          <a:solidFill>
            <a:srgbClr val="17A5B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0" name="Shape 28"/>
          <p:cNvSpPr/>
          <p:nvPr/>
        </p:nvSpPr>
        <p:spPr>
          <a:xfrm>
            <a:off x="438912" y="2770632"/>
            <a:ext cx="274320" cy="274320"/>
          </a:xfrm>
          <a:prstGeom prst="ellipse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1" name="Text 29"/>
          <p:cNvSpPr/>
          <p:nvPr/>
        </p:nvSpPr>
        <p:spPr>
          <a:xfrm>
            <a:off x="804672" y="2752344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Comportamientos JADE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401568" y="2779776"/>
            <a:ext cx="36576" cy="256032"/>
          </a:xfrm>
          <a:prstGeom prst="rect">
            <a:avLst/>
          </a:prstGeom>
          <a:solidFill>
            <a:srgbClr val="B2E0E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3" name="Text 31"/>
          <p:cNvSpPr/>
          <p:nvPr/>
        </p:nvSpPr>
        <p:spPr>
          <a:xfrm>
            <a:off x="3520440" y="2752344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los agentes usan CyclicBehaviour con block() bloqueante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7589520" y="2734056"/>
            <a:ext cx="1097280" cy="34747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6350">
            <a:solidFill>
              <a:srgbClr val="17A5B8"/>
            </a:solidFill>
            <a:prstDash val="solid"/>
          </a:ln>
        </p:spPr>
        <p:txBody>
          <a:bodyPr/>
          <a:lstStyle/>
          <a:p>
            <a:endParaRPr lang="es-ES">
              <a:solidFill>
                <a:srgbClr val="002060"/>
              </a:solidFill>
            </a:endParaRPr>
          </a:p>
        </p:txBody>
      </p:sp>
      <p:sp>
        <p:nvSpPr>
          <p:cNvPr id="35" name="Text 33"/>
          <p:cNvSpPr/>
          <p:nvPr/>
        </p:nvSpPr>
        <p:spPr>
          <a:xfrm>
            <a:off x="7589520" y="2752344"/>
            <a:ext cx="1097280" cy="32004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 de mensajes</a:t>
            </a:r>
            <a:endParaRPr lang="en-US" sz="850" dirty="0">
              <a:solidFill>
                <a:srgbClr val="002060"/>
              </a:solidFill>
            </a:endParaRPr>
          </a:p>
        </p:txBody>
      </p:sp>
      <p:sp>
        <p:nvSpPr>
          <p:cNvPr id="36" name="Shape 34"/>
          <p:cNvSpPr/>
          <p:nvPr/>
        </p:nvSpPr>
        <p:spPr>
          <a:xfrm>
            <a:off x="320040" y="3227832"/>
            <a:ext cx="8503920" cy="5029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7" name="Shape 35"/>
          <p:cNvSpPr/>
          <p:nvPr/>
        </p:nvSpPr>
        <p:spPr>
          <a:xfrm>
            <a:off x="320040" y="3227832"/>
            <a:ext cx="54864" cy="502920"/>
          </a:xfrm>
          <a:prstGeom prst="rect">
            <a:avLst/>
          </a:prstGeom>
          <a:solidFill>
            <a:srgbClr val="17A5B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8" name="Shape 36"/>
          <p:cNvSpPr/>
          <p:nvPr/>
        </p:nvSpPr>
        <p:spPr>
          <a:xfrm>
            <a:off x="438912" y="3337560"/>
            <a:ext cx="274320" cy="274320"/>
          </a:xfrm>
          <a:prstGeom prst="ellipse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9" name="Text 37"/>
          <p:cNvSpPr/>
          <p:nvPr/>
        </p:nvSpPr>
        <p:spPr>
          <a:xfrm>
            <a:off x="804672" y="331927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Mensajes ACL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401568" y="3346704"/>
            <a:ext cx="36576" cy="256032"/>
          </a:xfrm>
          <a:prstGeom prst="rect">
            <a:avLst/>
          </a:prstGeom>
          <a:solidFill>
            <a:srgbClr val="B2E0E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1" name="Text 39"/>
          <p:cNvSpPr/>
          <p:nvPr/>
        </p:nvSpPr>
        <p:spPr>
          <a:xfrm>
            <a:off x="3520440" y="3319272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Cadena completa REQUEST/INFORM entre los 4 tipos de agentes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7589520" y="3300984"/>
            <a:ext cx="1097280" cy="34747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6350">
            <a:solidFill>
              <a:srgbClr val="17A5B8"/>
            </a:solidFill>
            <a:prstDash val="solid"/>
          </a:ln>
        </p:spPr>
        <p:txBody>
          <a:bodyPr/>
          <a:lstStyle/>
          <a:p>
            <a:endParaRPr lang="es-ES">
              <a:solidFill>
                <a:srgbClr val="002060"/>
              </a:solidFill>
            </a:endParaRPr>
          </a:p>
        </p:txBody>
      </p:sp>
      <p:sp>
        <p:nvSpPr>
          <p:cNvPr id="43" name="Text 41"/>
          <p:cNvSpPr/>
          <p:nvPr/>
        </p:nvSpPr>
        <p:spPr>
          <a:xfrm>
            <a:off x="7589520" y="3319272"/>
            <a:ext cx="1097280" cy="32004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campos en String CSV</a:t>
            </a:r>
            <a:endParaRPr lang="en-US" sz="850" dirty="0">
              <a:solidFill>
                <a:srgbClr val="002060"/>
              </a:solidFill>
            </a:endParaRPr>
          </a:p>
        </p:txBody>
      </p:sp>
      <p:sp>
        <p:nvSpPr>
          <p:cNvPr id="44" name="Shape 42"/>
          <p:cNvSpPr/>
          <p:nvPr/>
        </p:nvSpPr>
        <p:spPr>
          <a:xfrm>
            <a:off x="320040" y="3794760"/>
            <a:ext cx="8503920" cy="502920"/>
          </a:xfrm>
          <a:prstGeom prst="rect">
            <a:avLst/>
          </a:prstGeom>
          <a:solidFill>
            <a:srgbClr val="F4F8FA"/>
          </a:solidFill>
          <a:ln/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45" name="Shape 43"/>
          <p:cNvSpPr/>
          <p:nvPr/>
        </p:nvSpPr>
        <p:spPr>
          <a:xfrm>
            <a:off x="320040" y="3794760"/>
            <a:ext cx="54864" cy="502920"/>
          </a:xfrm>
          <a:prstGeom prst="rect">
            <a:avLst/>
          </a:prstGeom>
          <a:solidFill>
            <a:srgbClr val="17A5B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6" name="Shape 44"/>
          <p:cNvSpPr/>
          <p:nvPr/>
        </p:nvSpPr>
        <p:spPr>
          <a:xfrm>
            <a:off x="438912" y="3904488"/>
            <a:ext cx="274320" cy="274320"/>
          </a:xfrm>
          <a:prstGeom prst="ellipse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7" name="Text 45"/>
          <p:cNvSpPr/>
          <p:nvPr/>
        </p:nvSpPr>
        <p:spPr>
          <a:xfrm>
            <a:off x="804672" y="38862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Directory Facilitator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3401568" y="3913632"/>
            <a:ext cx="36576" cy="256032"/>
          </a:xfrm>
          <a:prstGeom prst="rect">
            <a:avLst/>
          </a:prstGeom>
          <a:solidFill>
            <a:srgbClr val="B2E0E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9" name="Text 47"/>
          <p:cNvSpPr/>
          <p:nvPr/>
        </p:nvSpPr>
        <p:spPr>
          <a:xfrm>
            <a:off x="3520440" y="388620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y búsqueda aleatoria entre múltiples nutricionistas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7589520" y="3867912"/>
            <a:ext cx="1097280" cy="34747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6350">
            <a:solidFill>
              <a:srgbClr val="17A5B8"/>
            </a:solidFill>
            <a:prstDash val="solid"/>
          </a:ln>
        </p:spPr>
        <p:txBody>
          <a:bodyPr/>
          <a:lstStyle/>
          <a:p>
            <a:endParaRPr lang="es-ES">
              <a:solidFill>
                <a:srgbClr val="002060"/>
              </a:solidFill>
            </a:endParaRPr>
          </a:p>
        </p:txBody>
      </p:sp>
      <p:sp>
        <p:nvSpPr>
          <p:cNvPr id="51" name="Text 49"/>
          <p:cNvSpPr/>
          <p:nvPr/>
        </p:nvSpPr>
        <p:spPr>
          <a:xfrm>
            <a:off x="7589520" y="3886200"/>
            <a:ext cx="1097280" cy="32004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Concurrencia real</a:t>
            </a:r>
            <a:endParaRPr lang="en-US" sz="850" dirty="0">
              <a:solidFill>
                <a:srgbClr val="002060"/>
              </a:solidFill>
            </a:endParaRPr>
          </a:p>
        </p:txBody>
      </p:sp>
      <p:sp>
        <p:nvSpPr>
          <p:cNvPr id="52" name="Shape 50"/>
          <p:cNvSpPr/>
          <p:nvPr/>
        </p:nvSpPr>
        <p:spPr>
          <a:xfrm>
            <a:off x="320040" y="4361688"/>
            <a:ext cx="8503920" cy="5029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3" name="Shape 51"/>
          <p:cNvSpPr/>
          <p:nvPr/>
        </p:nvSpPr>
        <p:spPr>
          <a:xfrm>
            <a:off x="320040" y="4361688"/>
            <a:ext cx="54864" cy="502920"/>
          </a:xfrm>
          <a:prstGeom prst="rect">
            <a:avLst/>
          </a:prstGeom>
          <a:solidFill>
            <a:srgbClr val="F39C1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4" name="Shape 52"/>
          <p:cNvSpPr/>
          <p:nvPr/>
        </p:nvSpPr>
        <p:spPr>
          <a:xfrm>
            <a:off x="438912" y="4471416"/>
            <a:ext cx="274320" cy="274320"/>
          </a:xfrm>
          <a:prstGeom prst="ellipse">
            <a:avLst/>
          </a:prstGeom>
          <a:solidFill>
            <a:srgbClr val="F39C1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5" name="Text 53"/>
          <p:cNvSpPr/>
          <p:nvPr/>
        </p:nvSpPr>
        <p:spPr>
          <a:xfrm>
            <a:off x="804672" y="445312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Concurrencia (tutor)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3401568" y="4480560"/>
            <a:ext cx="36576" cy="256032"/>
          </a:xfrm>
          <a:prstGeom prst="rect">
            <a:avLst/>
          </a:prstGeom>
          <a:solidFill>
            <a:srgbClr val="B2E0E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7" name="Text 55"/>
          <p:cNvSpPr/>
          <p:nvPr/>
        </p:nvSpPr>
        <p:spPr>
          <a:xfrm>
            <a:off x="3520440" y="4453128"/>
            <a:ext cx="402336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050" err="1">
                <a:solidFill>
                  <a:srgbClr val="64748B"/>
                </a:solidFill>
                <a:ea typeface="+mn-lt"/>
                <a:cs typeface="+mn-lt"/>
              </a:rPr>
              <a:t>Múltiples</a:t>
            </a:r>
            <a:r>
              <a:rPr lang="en-US" sz="1050">
                <a:solidFill>
                  <a:srgbClr val="64748B"/>
                </a:solidFill>
                <a:ea typeface="+mn-lt"/>
                <a:cs typeface="+mn-lt"/>
              </a:rPr>
              <a:t> </a:t>
            </a:r>
            <a:r>
              <a:rPr lang="en-US" sz="1050" err="1">
                <a:solidFill>
                  <a:srgbClr val="64748B"/>
                </a:solidFill>
                <a:ea typeface="+mn-lt"/>
                <a:cs typeface="+mn-lt"/>
              </a:rPr>
              <a:t>pacientes</a:t>
            </a:r>
            <a:r>
              <a:rPr lang="en-US" sz="1050">
                <a:solidFill>
                  <a:srgbClr val="64748B"/>
                </a:solidFill>
                <a:ea typeface="+mn-lt"/>
                <a:cs typeface="+mn-lt"/>
              </a:rPr>
              <a:t> se </a:t>
            </a:r>
            <a:r>
              <a:rPr lang="en-US" sz="1050" err="1">
                <a:solidFill>
                  <a:srgbClr val="64748B"/>
                </a:solidFill>
                <a:ea typeface="+mn-lt"/>
                <a:cs typeface="+mn-lt"/>
              </a:rPr>
              <a:t>comunican</a:t>
            </a:r>
            <a:r>
              <a:rPr lang="en-US" sz="1050">
                <a:solidFill>
                  <a:srgbClr val="64748B"/>
                </a:solidFill>
                <a:ea typeface="+mn-lt"/>
                <a:cs typeface="+mn-lt"/>
              </a:rPr>
              <a:t> con </a:t>
            </a:r>
            <a:r>
              <a:rPr lang="en-US" sz="1050" err="1">
                <a:solidFill>
                  <a:srgbClr val="64748B"/>
                </a:solidFill>
                <a:ea typeface="+mn-lt"/>
                <a:cs typeface="+mn-lt"/>
              </a:rPr>
              <a:t>distintos</a:t>
            </a:r>
            <a:r>
              <a:rPr lang="en-US" sz="1050">
                <a:solidFill>
                  <a:srgbClr val="64748B"/>
                </a:solidFill>
                <a:ea typeface="+mn-lt"/>
                <a:cs typeface="+mn-lt"/>
              </a:rPr>
              <a:t> </a:t>
            </a:r>
            <a:r>
              <a:rPr lang="en-US" sz="1050" err="1">
                <a:solidFill>
                  <a:srgbClr val="64748B"/>
                </a:solidFill>
                <a:ea typeface="+mn-lt"/>
                <a:cs typeface="+mn-lt"/>
              </a:rPr>
              <a:t>nutricionistas</a:t>
            </a:r>
            <a:r>
              <a:rPr lang="en-US" sz="1050">
                <a:solidFill>
                  <a:srgbClr val="64748B"/>
                </a:solidFill>
                <a:ea typeface="+mn-lt"/>
                <a:cs typeface="+mn-lt"/>
              </a:rPr>
              <a:t> al </a:t>
            </a:r>
            <a:r>
              <a:rPr lang="en-US" sz="1050" err="1">
                <a:solidFill>
                  <a:srgbClr val="64748B"/>
                </a:solidFill>
                <a:ea typeface="+mn-lt"/>
                <a:cs typeface="+mn-lt"/>
              </a:rPr>
              <a:t>tiempo</a:t>
            </a:r>
            <a:endParaRPr lang="es-ES" err="1"/>
          </a:p>
        </p:txBody>
      </p:sp>
      <p:sp>
        <p:nvSpPr>
          <p:cNvPr id="58" name="Shape 56"/>
          <p:cNvSpPr/>
          <p:nvPr/>
        </p:nvSpPr>
        <p:spPr>
          <a:xfrm>
            <a:off x="7589520" y="4434840"/>
            <a:ext cx="1097280" cy="34747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635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s-ES">
              <a:solidFill>
                <a:srgbClr val="002060"/>
              </a:solidFill>
            </a:endParaRPr>
          </a:p>
        </p:txBody>
      </p:sp>
      <p:sp>
        <p:nvSpPr>
          <p:cNvPr id="59" name="Text 57"/>
          <p:cNvSpPr/>
          <p:nvPr/>
        </p:nvSpPr>
        <p:spPr>
          <a:xfrm>
            <a:off x="7589520" y="4453128"/>
            <a:ext cx="1097280" cy="32004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Demostrable en vivo</a:t>
            </a:r>
            <a:endParaRPr lang="en-US" sz="850" dirty="0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EF3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B2E0E8"/>
          </a:solidFill>
          <a:ln w="12700">
            <a:solidFill>
              <a:srgbClr val="B2E0E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3840481" y="3685032"/>
            <a:ext cx="2743200" cy="2743200"/>
          </a:xfrm>
          <a:prstGeom prst="ellipse">
            <a:avLst/>
          </a:prstGeom>
          <a:solidFill>
            <a:srgbClr val="B2E0E8"/>
          </a:solidFill>
          <a:ln w="12700">
            <a:solidFill>
              <a:srgbClr val="B2E0E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457200" y="365760"/>
            <a:ext cx="1280160" cy="1280160"/>
          </a:xfrm>
          <a:prstGeom prst="ellipse">
            <a:avLst/>
          </a:prstGeom>
          <a:solidFill>
            <a:srgbClr val="17A5B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685800" y="594360"/>
            <a:ext cx="822960" cy="822960"/>
          </a:xfrm>
          <a:prstGeom prst="ellipse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365760" y="178308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0" b="1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7000"/>
          </a:p>
        </p:txBody>
      </p:sp>
      <p:sp>
        <p:nvSpPr>
          <p:cNvPr id="7" name="Text 5"/>
          <p:cNvSpPr/>
          <p:nvPr/>
        </p:nvSpPr>
        <p:spPr>
          <a:xfrm>
            <a:off x="365760" y="274320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Vivo</a:t>
            </a:r>
            <a:endParaRPr lang="en-US" sz="4400"/>
          </a:p>
        </p:txBody>
      </p:sp>
      <p:sp>
        <p:nvSpPr>
          <p:cNvPr id="8" name="Text 6"/>
          <p:cNvSpPr/>
          <p:nvPr/>
        </p:nvSpPr>
        <p:spPr>
          <a:xfrm>
            <a:off x="365760" y="3657600"/>
            <a:ext cx="4572000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3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N </a:t>
            </a:r>
            <a:r>
              <a:rPr lang="en-US" sz="1300" err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pacientes</a:t>
            </a:r>
            <a:r>
              <a:rPr lang="en-US" sz="13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 · M </a:t>
            </a:r>
            <a:r>
              <a:rPr lang="en-US" sz="1300" err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nutricionistas</a:t>
            </a:r>
            <a:r>
              <a:rPr lang="en-US" sz="13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 · </a:t>
            </a:r>
            <a:r>
              <a:rPr lang="en-US" sz="1300" err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tiempo</a:t>
            </a:r>
            <a:r>
              <a:rPr lang="en-US" sz="13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 real</a:t>
            </a:r>
            <a:endParaRPr lang="en-US" sz="1300">
              <a:latin typeface="Calibri"/>
              <a:ea typeface="Calibri"/>
              <a:cs typeface="Calibri"/>
            </a:endParaRPr>
          </a:p>
        </p:txBody>
      </p:sp>
      <p:sp>
        <p:nvSpPr>
          <p:cNvPr id="9" name="Text 7"/>
          <p:cNvSpPr/>
          <p:nvPr/>
        </p:nvSpPr>
        <p:spPr>
          <a:xfrm>
            <a:off x="365760" y="420624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¿Preguntas?</a:t>
            </a:r>
            <a:endParaRPr lang="en-US" sz="2600"/>
          </a:p>
        </p:txBody>
      </p:sp>
      <p:sp>
        <p:nvSpPr>
          <p:cNvPr id="10" name="Shape 8"/>
          <p:cNvSpPr/>
          <p:nvPr/>
        </p:nvSpPr>
        <p:spPr>
          <a:xfrm>
            <a:off x="5303520" y="0"/>
            <a:ext cx="3840480" cy="5143500"/>
          </a:xfrm>
          <a:prstGeom prst="rect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/>
          <p:nvPr/>
        </p:nvSpPr>
        <p:spPr>
          <a:xfrm>
            <a:off x="5577840" y="27432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Pasos de la demo</a:t>
            </a:r>
            <a:endParaRPr lang="en-US" sz="1500"/>
          </a:p>
        </p:txBody>
      </p:sp>
      <p:sp>
        <p:nvSpPr>
          <p:cNvPr id="13" name="Shape 11"/>
          <p:cNvSpPr/>
          <p:nvPr/>
        </p:nvSpPr>
        <p:spPr>
          <a:xfrm>
            <a:off x="5577840" y="886968"/>
            <a:ext cx="320040" cy="320040"/>
          </a:xfrm>
          <a:prstGeom prst="ellipse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5577840" y="88696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/>
          </a:p>
        </p:txBody>
      </p:sp>
      <p:sp>
        <p:nvSpPr>
          <p:cNvPr id="15" name="Text 13"/>
          <p:cNvSpPr/>
          <p:nvPr/>
        </p:nvSpPr>
        <p:spPr>
          <a:xfrm>
            <a:off x="5989320" y="9144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Ejecutar Launcher.java</a:t>
            </a:r>
            <a:endParaRPr lang="en-US" sz="1150"/>
          </a:p>
        </p:txBody>
      </p:sp>
      <p:sp>
        <p:nvSpPr>
          <p:cNvPr id="16" name="Shape 14"/>
          <p:cNvSpPr/>
          <p:nvPr/>
        </p:nvSpPr>
        <p:spPr>
          <a:xfrm>
            <a:off x="5577840" y="1490472"/>
            <a:ext cx="320040" cy="320040"/>
          </a:xfrm>
          <a:prstGeom prst="ellipse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5577840" y="149047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/>
          </a:p>
        </p:txBody>
      </p:sp>
      <p:sp>
        <p:nvSpPr>
          <p:cNvPr id="18" name="Text 16"/>
          <p:cNvSpPr/>
          <p:nvPr/>
        </p:nvSpPr>
        <p:spPr>
          <a:xfrm>
            <a:off x="5989320" y="1517904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JADE arranca en localhost:1099</a:t>
            </a:r>
            <a:endParaRPr lang="en-US" sz="1150"/>
          </a:p>
        </p:txBody>
      </p:sp>
      <p:sp>
        <p:nvSpPr>
          <p:cNvPr id="19" name="Shape 17"/>
          <p:cNvSpPr/>
          <p:nvPr/>
        </p:nvSpPr>
        <p:spPr>
          <a:xfrm>
            <a:off x="5577840" y="2093976"/>
            <a:ext cx="320040" cy="320040"/>
          </a:xfrm>
          <a:prstGeom prst="ellipse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5577840" y="209397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/>
          </a:p>
        </p:txBody>
      </p:sp>
      <p:sp>
        <p:nvSpPr>
          <p:cNvPr id="21" name="Text 19"/>
          <p:cNvSpPr/>
          <p:nvPr/>
        </p:nvSpPr>
        <p:spPr>
          <a:xfrm>
            <a:off x="5989320" y="2121408"/>
            <a:ext cx="292608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1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 registran M nutricionistas </a:t>
            </a:r>
            <a:r>
              <a:rPr lang="en-US" sz="115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en</a:t>
            </a:r>
            <a:r>
              <a:rPr lang="en-US" sz="11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15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el</a:t>
            </a:r>
            <a:r>
              <a:rPr lang="en-US" sz="11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DF</a:t>
            </a:r>
            <a:endParaRPr lang="en-US" sz="1150">
              <a:latin typeface="Calibri"/>
              <a:ea typeface="Calibri"/>
              <a:cs typeface="Calibri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5577840" y="2697480"/>
            <a:ext cx="320040" cy="320040"/>
          </a:xfrm>
          <a:prstGeom prst="ellipse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3" name="Text 21"/>
          <p:cNvSpPr/>
          <p:nvPr/>
        </p:nvSpPr>
        <p:spPr>
          <a:xfrm>
            <a:off x="5577840" y="26974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/>
          </a:p>
        </p:txBody>
      </p:sp>
      <p:sp>
        <p:nvSpPr>
          <p:cNvPr id="24" name="Text 22"/>
          <p:cNvSpPr/>
          <p:nvPr/>
        </p:nvSpPr>
        <p:spPr>
          <a:xfrm>
            <a:off x="5989320" y="2724912"/>
            <a:ext cx="292608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1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 </a:t>
            </a:r>
            <a:r>
              <a:rPr lang="en-US" sz="115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abren</a:t>
            </a:r>
            <a:r>
              <a:rPr lang="en-US" sz="11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 N </a:t>
            </a:r>
            <a:r>
              <a:rPr lang="en-US" sz="115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ventanas</a:t>
            </a:r>
            <a:r>
              <a:rPr lang="en-US" sz="11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15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DiaPredict</a:t>
            </a:r>
            <a:endParaRPr lang="en-US" sz="1150" err="1">
              <a:latin typeface="Calibri"/>
              <a:ea typeface="Calibri"/>
              <a:cs typeface="Calibri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5577840" y="3300984"/>
            <a:ext cx="320040" cy="320040"/>
          </a:xfrm>
          <a:prstGeom prst="ellipse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6" name="Text 24"/>
          <p:cNvSpPr/>
          <p:nvPr/>
        </p:nvSpPr>
        <p:spPr>
          <a:xfrm>
            <a:off x="5577840" y="330098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/>
          </a:p>
        </p:txBody>
      </p:sp>
      <p:sp>
        <p:nvSpPr>
          <p:cNvPr id="27" name="Text 25"/>
          <p:cNvSpPr/>
          <p:nvPr/>
        </p:nvSpPr>
        <p:spPr>
          <a:xfrm>
            <a:off x="5989320" y="3328416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Rellenar datos en cada ventana</a:t>
            </a:r>
            <a:endParaRPr lang="en-US" sz="1150"/>
          </a:p>
        </p:txBody>
      </p:sp>
      <p:sp>
        <p:nvSpPr>
          <p:cNvPr id="28" name="Shape 26"/>
          <p:cNvSpPr/>
          <p:nvPr/>
        </p:nvSpPr>
        <p:spPr>
          <a:xfrm>
            <a:off x="5577840" y="3904488"/>
            <a:ext cx="320040" cy="320040"/>
          </a:xfrm>
          <a:prstGeom prst="ellipse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9" name="Text 27"/>
          <p:cNvSpPr/>
          <p:nvPr/>
        </p:nvSpPr>
        <p:spPr>
          <a:xfrm>
            <a:off x="5577840" y="390448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/>
          </a:p>
        </p:txBody>
      </p:sp>
      <p:sp>
        <p:nvSpPr>
          <p:cNvPr id="30" name="Text 28"/>
          <p:cNvSpPr/>
          <p:nvPr/>
        </p:nvSpPr>
        <p:spPr>
          <a:xfrm>
            <a:off x="5989320" y="3931920"/>
            <a:ext cx="292608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1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 </a:t>
            </a:r>
            <a:r>
              <a:rPr lang="en-US" sz="115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cada</a:t>
            </a:r>
            <a:r>
              <a:rPr lang="en-US" sz="11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15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Paciente</a:t>
            </a:r>
            <a:r>
              <a:rPr lang="en-US" sz="11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se le </a:t>
            </a:r>
            <a:r>
              <a:rPr lang="en-US" sz="115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asigna</a:t>
            </a:r>
            <a:r>
              <a:rPr lang="en-US" sz="11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 un </a:t>
            </a:r>
            <a:r>
              <a:rPr lang="en-US" sz="115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Nutricionista</a:t>
            </a:r>
            <a:endParaRPr lang="en-US" sz="1150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5577840" y="4507992"/>
            <a:ext cx="320040" cy="320040"/>
          </a:xfrm>
          <a:prstGeom prst="ellipse">
            <a:avLst/>
          </a:prstGeom>
          <a:solidFill>
            <a:srgbClr val="1A527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2" name="Text 30"/>
          <p:cNvSpPr/>
          <p:nvPr/>
        </p:nvSpPr>
        <p:spPr>
          <a:xfrm>
            <a:off x="5577840" y="450799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/>
          </a:p>
        </p:txBody>
      </p:sp>
      <p:sp>
        <p:nvSpPr>
          <p:cNvPr id="33" name="Text 31"/>
          <p:cNvSpPr/>
          <p:nvPr/>
        </p:nvSpPr>
        <p:spPr>
          <a:xfrm>
            <a:off x="5989320" y="4535424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resultado en cada popup</a:t>
            </a:r>
            <a:endParaRPr lang="en-US" sz="1150"/>
          </a:p>
        </p:txBody>
      </p:sp>
      <p:pic>
        <p:nvPicPr>
          <p:cNvPr id="37" name="Imagen 36">
            <a:extLst>
              <a:ext uri="{FF2B5EF4-FFF2-40B4-BE49-F238E27FC236}">
                <a16:creationId xmlns:a16="http://schemas.microsoft.com/office/drawing/2014/main" id="{2F0AA044-23DF-37C3-67EE-62CD3611E3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307206">
            <a:off x="525779" y="436059"/>
            <a:ext cx="1143000" cy="1143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401</TotalTime>
  <Words>773</Words>
  <Application>Microsoft Macintosh PowerPoint</Application>
  <PresentationFormat>Presentación en pantalla (16:9)</PresentationFormat>
  <Paragraphs>204</Paragraphs>
  <Slides>11</Slides>
  <Notes>11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5" baseType="lpstr">
      <vt:lpstr>Arial</vt:lpstr>
      <vt:lpstr>Calibri</vt:lpstr>
      <vt:lpstr>Consolas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ISABEL JUAREZ MONTALBAN</cp:lastModifiedBy>
  <cp:revision>3</cp:revision>
  <dcterms:created xsi:type="dcterms:W3CDTF">2026-05-22T09:37:39Z</dcterms:created>
  <dcterms:modified xsi:type="dcterms:W3CDTF">2026-05-22T16:20:14Z</dcterms:modified>
</cp:coreProperties>
</file>